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مرحباً بالجميع. عرض اليوم يرصد رحلة وكلاء الذكاء الاصطناعي عبر ثلاث موجات متتالية. الفكرة المحورية: مع كل موجة، انتقل ما نبرمجه نحن البشر من طبقة إلى أعمق في النظام — من صياغة السؤال، إلى إدارة المدخلات، إلى بناء النظام المحيط بأكمله.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الخط الزمني يقرأ من اليمين إلى اليسار كما هو معتاد في العربية. لاحظوا التداخل بين الموجات: MCP ظهر في نهاية ٢٠٢٤ ويمهّد للحزام، وهندسة السياق كمصطلح رسخت في يونيو ٢٠٢٥.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الرسالة الجوهرية للعرض كله: كل مرحلة لم تلغِ ما قبلها بل بُنيت فوقه. هندسة الأوامر ما زالت ضرورية داخل الحزام، لكنها لم تعد هي الميزة التنافسية.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قبل ٢٠٢٠ كان التعامل مع النماذج مهمة هندسية ثقيلة: ضبط دقيق على بيانات كل مهمة. GPT-3 غيّر المعادلة: أمثلة قليلة داخل النص تكفي. هنا وُلدت هندسة الأوامر كمهارة مستقلة.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التقنيات الأربع لا تزال مستخدمة اليوم داخل الحزم الحديثة — لكن لاحظوا أن ReAct تحديداً هو الفكرة التي ستتطور لاحقاً لتصبح حلقة الوكيل الكاملة في المرحلة الثالثة.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الشريحة هي مفصل العرض. 2,048 توكن تعني أن كل تراكم معرفي — وثائق الشركة، المحادثات، البيانات الحية — كان خارج متناول النموذج مهما أتقنّا صياغة الأمر. من هنا انطلقت الموجة الثانية.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الفكرة الناظمة: النموذج أصبح مورداً عاماً متاحاً للجميع — GPT وClaude وGemini. الميزة التنافسية انتقلت إلى أنظمة السياق: ماذا نسترجع، ماذا نتذكر، ماذا نضغط، ومتى نُفرغ النافذة.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النقطة المضادة للحدس: لا تزال أنظمة الوكلاء الحديثة تضغط السياق وتلخصه وتحذفه حتى مع نوافذ ضخمة — لأن التكلفة والزمن وتشتت الانتباه أمور لا تحلّها النافذة الكبيرة وحدها.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هي جسر المرحلتين الأولى والثانية: نقل المعرفة من داخل نص الأمر إلى نظام يسترجعها ديناميكياً. وهي التقنية التي يقوم عليها مشروعنا OmniRAG نفسه.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الذاكرة هي ما يحوّل «أداة ذكية» إلى «مساعد شخصي». لاحظوا التحدي: كل طبقة ذاكرة تضيف قيمة، وتضيف في الوقت نفسه مسطّحة هجوم جديدة — سنرى هذا في دراسة حالة OpenClaw.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لحظة مفصلية: قبلها كانت كل أداة تكامل خاص بمزود النموذج. بعدها أصبحت الأدوات «إضافات» قياسية تعمل مع أي عميل يدعم البروتوكول — مايكروسوفت وGoogle وغيرها تبنّوه خلال ٢٠٢٥.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أفضل تعريف مختصر: النموذج هو المحرك، والحزام هو السيارة بأكملها — من الدواسة إلى الفرامل إلى حزام الأمان. مصطلح «الوكيل ليس النموذج» جوهر هذه المرحلة.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خمس محطات في ثلاث سنوات فقط. لاحظوا تسارع الإيقاع: بين أول إطار وبين تقييس الأدوات عامان، وبين التقييس وبين حزام على جهاز المستخدم أقل من عام.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AutoGPT برهن أن الفكرة ممكنة وأن التشغيل اليومي صعب — قيمته التاريخية أنه فتح الباب: كل الأنظمة اللاحقة كانت إجابات على إخفاقاته الثلاثة: الذاكرة، التكلفة، والموثوقية.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الرسالة: النجوم الهائلة تعكس شهية هائلة للحزام المفتوح — لكنها تكشف أن الأمان جزء من الهندسة لا إضافة لاحقة. وACP يمثل الموجة التالية: تقييس واجهة «العميل» بعد تقييس الأدوات.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استخدموا الصف الأخير (حدود كل مرحلة) كمفتاح نقاش: كل حدّ في عمود ما هو باب الدخول للعمود التالي. لا مرحلة «تغلبت» — بل تراكمت.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اختموا بالرسالة الجوهرية: كل موجة لم تُلغِ سابقتها — الأمر الجيد ما زال ضرورياً داخل الحزام، والسياق ما زال قلب الوكيل. ما تغيّر هو «أين يقضي المهندس وقته». افتحوا النقاش: أي حدود المرحلة الثالثة ستُغلق أولاً — الأمان أم الثقة؟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280160"/>
            <a:ext cx="1097280" cy="100584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914400" y="2286000"/>
            <a:ext cx="1188720" cy="100584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291840"/>
            <a:ext cx="1463040" cy="100584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463040" y="4297680"/>
            <a:ext cx="914400" cy="146304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05840" y="1005840"/>
            <a:ext cx="2103120" cy="27432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1005840"/>
            <a:ext cx="457200" cy="182880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926080" y="2834640"/>
            <a:ext cx="640080" cy="237744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241280" y="1097280"/>
            <a:ext cx="914400" cy="109728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0" y="2194560"/>
            <a:ext cx="1188720" cy="100584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058400" y="3200400"/>
            <a:ext cx="1371600" cy="118872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4389120"/>
            <a:ext cx="914400" cy="128016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9509760" y="1097280"/>
            <a:ext cx="1645920" cy="18288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235440" y="1280160"/>
            <a:ext cx="274320" cy="173736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35440" y="3017520"/>
            <a:ext cx="457200" cy="228600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3108960" y="502920"/>
            <a:ext cx="1828800" cy="50292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502920"/>
            <a:ext cx="4572000" cy="77724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457200"/>
            <a:ext cx="3749040" cy="64008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217920" y="4389120"/>
            <a:ext cx="3840480" cy="201168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8686800" y="5303520"/>
            <a:ext cx="1005840" cy="100584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03120" y="2286000"/>
            <a:ext cx="1463040" cy="54864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9235440" y="2194560"/>
            <a:ext cx="1005840" cy="82296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1840" y="1186160"/>
            <a:ext cx="188001" cy="188001"/>
          </a:xfrm>
          <a:prstGeom prst="ellipse">
            <a:avLst/>
          </a:prstGeom>
          <a:solidFill>
            <a:srgbClr val="00D4FF">
              <a:alpha val="437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990466" y="2173346"/>
            <a:ext cx="225308" cy="225308"/>
          </a:xfrm>
          <a:prstGeom prst="ellipse">
            <a:avLst/>
          </a:prstGeom>
          <a:solidFill>
            <a:srgbClr val="00D4FF">
              <a:alpha val="526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55660" y="3133100"/>
            <a:ext cx="317480" cy="317480"/>
          </a:xfrm>
          <a:prstGeom prst="ellipse">
            <a:avLst/>
          </a:prstGeom>
          <a:solidFill>
            <a:srgbClr val="00D4FF">
              <a:alpha val="6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279051" y="4199291"/>
            <a:ext cx="196779" cy="196779"/>
          </a:xfrm>
          <a:prstGeom prst="ellipse">
            <a:avLst/>
          </a:prstGeom>
          <a:solidFill>
            <a:srgbClr val="00D4FF">
              <a:alpha val="377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388791" y="5686471"/>
            <a:ext cx="148499" cy="148499"/>
          </a:xfrm>
          <a:prstGeom prst="ellipse">
            <a:avLst/>
          </a:prstGeom>
          <a:solidFill>
            <a:srgbClr val="00D4FF">
              <a:alpha val="427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57901" y="854781"/>
            <a:ext cx="302118" cy="302118"/>
          </a:xfrm>
          <a:prstGeom prst="ellipse">
            <a:avLst/>
          </a:prstGeom>
          <a:solidFill>
            <a:srgbClr val="00D4FF">
              <a:alpha val="453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20588" y="2689068"/>
            <a:ext cx="291145" cy="291145"/>
          </a:xfrm>
          <a:prstGeom prst="ellipse">
            <a:avLst/>
          </a:prstGeom>
          <a:solidFill>
            <a:srgbClr val="00D4FF">
              <a:alpha val="588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748686" y="5034686"/>
            <a:ext cx="354787" cy="354787"/>
          </a:xfrm>
          <a:prstGeom prst="ellipse">
            <a:avLst/>
          </a:prstGeom>
          <a:solidFill>
            <a:srgbClr val="00D4FF">
              <a:alpha val="549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983773" y="925373"/>
            <a:ext cx="343814" cy="343814"/>
          </a:xfrm>
          <a:prstGeom prst="ellipse">
            <a:avLst/>
          </a:prstGeom>
          <a:solidFill>
            <a:srgbClr val="00D4FF">
              <a:alpha val="504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106680" y="2059960"/>
            <a:ext cx="269199" cy="269199"/>
          </a:xfrm>
          <a:prstGeom prst="ellipse">
            <a:avLst/>
          </a:prstGeom>
          <a:solidFill>
            <a:srgbClr val="00D4FF">
              <a:alpha val="574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269066" y="3039466"/>
            <a:ext cx="321869" cy="321869"/>
          </a:xfrm>
          <a:prstGeom prst="ellipse">
            <a:avLst/>
          </a:prstGeom>
          <a:solidFill>
            <a:srgbClr val="00D4FF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969886" y="4300606"/>
            <a:ext cx="177028" cy="177028"/>
          </a:xfrm>
          <a:prstGeom prst="ellipse">
            <a:avLst/>
          </a:prstGeom>
          <a:solidFill>
            <a:srgbClr val="00D4FF">
              <a:alpha val="4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871119" y="5567599"/>
            <a:ext cx="203363" cy="203363"/>
          </a:xfrm>
          <a:prstGeom prst="ellipse">
            <a:avLst/>
          </a:prstGeom>
          <a:solidFill>
            <a:srgbClr val="00D4FF">
              <a:alpha val="5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359798" y="1130198"/>
            <a:ext cx="299923" cy="299923"/>
          </a:xfrm>
          <a:prstGeom prst="ellipse">
            <a:avLst/>
          </a:prstGeom>
          <a:solidFill>
            <a:srgbClr val="00D4FF">
              <a:alpha val="428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155704" y="2937784"/>
            <a:ext cx="159471" cy="159471"/>
          </a:xfrm>
          <a:prstGeom prst="ellipse">
            <a:avLst/>
          </a:prstGeom>
          <a:solidFill>
            <a:srgbClr val="00D4FF">
              <a:alpha val="372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601932" y="5212812"/>
            <a:ext cx="181417" cy="181417"/>
          </a:xfrm>
          <a:prstGeom prst="ellipse">
            <a:avLst/>
          </a:prstGeom>
          <a:solidFill>
            <a:srgbClr val="00D4FF">
              <a:alpha val="482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760915" y="326075"/>
            <a:ext cx="353690" cy="353690"/>
          </a:xfrm>
          <a:prstGeom prst="ellipse">
            <a:avLst/>
          </a:prstGeom>
          <a:solidFill>
            <a:srgbClr val="00D4FF">
              <a:alpha val="5205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243511" y="294071"/>
            <a:ext cx="326258" cy="326258"/>
          </a:xfrm>
          <a:prstGeom prst="ellipse">
            <a:avLst/>
          </a:prstGeom>
          <a:solidFill>
            <a:srgbClr val="00D4FF">
              <a:alpha val="472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050402" y="6233282"/>
            <a:ext cx="335036" cy="335036"/>
          </a:xfrm>
          <a:prstGeom prst="ellipse">
            <a:avLst/>
          </a:prstGeom>
          <a:solidFill>
            <a:srgbClr val="00D4FF">
              <a:alpha val="616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534644" y="6157204"/>
            <a:ext cx="304312" cy="304312"/>
          </a:xfrm>
          <a:prstGeom prst="ellipse">
            <a:avLst/>
          </a:prstGeom>
          <a:solidFill>
            <a:srgbClr val="00D4FF">
              <a:alpha val="57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527048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2000"/>
              </a:lnSpc>
              <a:buNone/>
            </a:pPr>
            <a:r>
              <a:rPr lang="en-US" sz="1700" spc="200" kern="0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من هندسة الأوامر إلى هندسة الحزام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612648" y="1938528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تطوّر وكلاء الذكاء الاصطناعي</a:t>
            </a:r>
            <a:endParaRPr lang="en-US" sz="5400" dirty="0"/>
          </a:p>
        </p:txBody>
      </p:sp>
      <p:sp>
        <p:nvSpPr>
          <p:cNvPr id="45" name="Text 43"/>
          <p:cNvSpPr/>
          <p:nvPr/>
        </p:nvSpPr>
        <p:spPr>
          <a:xfrm>
            <a:off x="1463040" y="3035808"/>
            <a:ext cx="9262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ثلاث موجات أعادت تعريف طريقة بناء التطبيقات الذكية — وكيف نبرمج النماذج اللغوية الكبيرة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7923276" y="3977640"/>
            <a:ext cx="3017520" cy="914400"/>
          </a:xfrm>
          <a:prstGeom prst="roundRect">
            <a:avLst>
              <a:gd name="adj" fmla="val 9000"/>
            </a:avLst>
          </a:prstGeom>
          <a:solidFill>
            <a:srgbClr val="0E2A4F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0282428" y="3977640"/>
            <a:ext cx="566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8106156" y="41422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هندسة الأوامر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106156" y="45079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كيف نَسأل النموذج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603236" y="4434840"/>
            <a:ext cx="320040" cy="0"/>
          </a:xfrm>
          <a:prstGeom prst="line">
            <a:avLst/>
          </a:prstGeom>
          <a:noFill/>
          <a:ln w="15875">
            <a:solidFill>
              <a:srgbClr val="5A718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16200000">
            <a:off x="7484364" y="4375404"/>
            <a:ext cx="118872" cy="118872"/>
          </a:xfrm>
          <a:prstGeom prst="triangle">
            <a:avLst/>
          </a:prstGeom>
          <a:solidFill>
            <a:srgbClr val="5A7186"/>
          </a:solidFill>
          <a:ln/>
        </p:spPr>
      </p:sp>
      <p:sp>
        <p:nvSpPr>
          <p:cNvPr id="52" name="Shape 50"/>
          <p:cNvSpPr/>
          <p:nvPr/>
        </p:nvSpPr>
        <p:spPr>
          <a:xfrm>
            <a:off x="4585716" y="3977640"/>
            <a:ext cx="3017520" cy="914400"/>
          </a:xfrm>
          <a:prstGeom prst="roundRect">
            <a:avLst>
              <a:gd name="adj" fmla="val 9000"/>
            </a:avLst>
          </a:prstGeom>
          <a:solidFill>
            <a:srgbClr val="0E2A4F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944868" y="3977640"/>
            <a:ext cx="566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600" dirty="0"/>
          </a:p>
        </p:txBody>
      </p:sp>
      <p:sp>
        <p:nvSpPr>
          <p:cNvPr id="54" name="Text 52"/>
          <p:cNvSpPr/>
          <p:nvPr/>
        </p:nvSpPr>
        <p:spPr>
          <a:xfrm>
            <a:off x="4768596" y="41422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هندسة السياق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768596" y="45079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ماذا نُدخل إلى النموذج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265676" y="4434840"/>
            <a:ext cx="320040" cy="0"/>
          </a:xfrm>
          <a:prstGeom prst="line">
            <a:avLst/>
          </a:prstGeom>
          <a:noFill/>
          <a:ln w="15875">
            <a:solidFill>
              <a:srgbClr val="5A718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16200000">
            <a:off x="4146804" y="4375404"/>
            <a:ext cx="118872" cy="118872"/>
          </a:xfrm>
          <a:prstGeom prst="triangle">
            <a:avLst/>
          </a:prstGeom>
          <a:solidFill>
            <a:srgbClr val="5A7186"/>
          </a:solidFill>
          <a:ln/>
        </p:spPr>
      </p:sp>
      <p:sp>
        <p:nvSpPr>
          <p:cNvPr id="58" name="Shape 56"/>
          <p:cNvSpPr/>
          <p:nvPr/>
        </p:nvSpPr>
        <p:spPr>
          <a:xfrm>
            <a:off x="1248156" y="3977640"/>
            <a:ext cx="3017520" cy="914400"/>
          </a:xfrm>
          <a:prstGeom prst="roundRect">
            <a:avLst>
              <a:gd name="adj" fmla="val 9000"/>
            </a:avLst>
          </a:prstGeom>
          <a:solidFill>
            <a:srgbClr val="0E2A4F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3607308" y="3977640"/>
            <a:ext cx="566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9B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600" dirty="0"/>
          </a:p>
        </p:txBody>
      </p:sp>
      <p:sp>
        <p:nvSpPr>
          <p:cNvPr id="60" name="Text 58"/>
          <p:cNvSpPr/>
          <p:nvPr/>
        </p:nvSpPr>
        <p:spPr>
          <a:xfrm>
            <a:off x="1431036" y="41422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هندسة الحزام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431036" y="45079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ما الذي يحيط بالنموذج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355848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إعداد: فريق OmniRAG — سبتمبر ٢٠٢٦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5880" y="310896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الخط الزمني ٢٠٢٠ – ٢٠٢٦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25880" y="86868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من أوراق بحثية إلى مساعدين شخصيين يعيشون على أجهزتنا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٠٢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4400" y="3840480"/>
            <a:ext cx="3063240" cy="1005840"/>
          </a:xfrm>
          <a:prstGeom prst="rect">
            <a:avLst/>
          </a:prstGeom>
          <a:solidFill>
            <a:srgbClr val="C9A959">
              <a:alpha val="12000"/>
            </a:srgbClr>
          </a:solidFill>
          <a:ln w="6350">
            <a:solidFill>
              <a:srgbClr val="C9A959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5367528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المرحلة ١ — هندسة الأوامر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977640" y="3840480"/>
            <a:ext cx="4114800" cy="1005840"/>
          </a:xfrm>
          <a:prstGeom prst="rect">
            <a:avLst/>
          </a:prstGeom>
          <a:solidFill>
            <a:srgbClr val="00D4FF">
              <a:alpha val="12000"/>
            </a:srgbClr>
          </a:solidFill>
          <a:ln w="635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50792" y="5367528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المرحلة ٢ — هندسة السياق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92440" y="3840480"/>
            <a:ext cx="3273552" cy="1005840"/>
          </a:xfrm>
          <a:prstGeom prst="rect">
            <a:avLst/>
          </a:prstGeom>
          <a:solidFill>
            <a:srgbClr val="9BE8FF">
              <a:alpha val="12000"/>
            </a:srgbClr>
          </a:solidFill>
          <a:ln w="6350">
            <a:solidFill>
              <a:srgbClr val="9BE8FF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65592" y="536752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9B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المرحلة ٣ — هندسة الحزام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4343400"/>
            <a:ext cx="10543032" cy="0"/>
          </a:xfrm>
          <a:prstGeom prst="line">
            <a:avLst/>
          </a:prstGeom>
          <a:noFill/>
          <a:ln w="25400">
            <a:solidFill>
              <a:srgbClr val="5A71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4288536"/>
            <a:ext cx="109728" cy="109728"/>
          </a:xfrm>
          <a:prstGeom prst="ellipse">
            <a:avLst/>
          </a:prstGeom>
          <a:solidFill>
            <a:srgbClr val="0B1F3A"/>
          </a:solidFill>
          <a:ln w="22225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95935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GPT-3 وورقة RAG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مايو ٢٠٢٠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80545" y="4288536"/>
            <a:ext cx="109728" cy="109728"/>
          </a:xfrm>
          <a:prstGeom prst="ellipse">
            <a:avLst/>
          </a:prstGeom>
          <a:solidFill>
            <a:srgbClr val="0B1F3A"/>
          </a:solidFill>
          <a:ln w="22225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1593" y="445312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سلسلة التفكير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21593" y="4837176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يناير ٢٠٢٢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40278" y="4288536"/>
            <a:ext cx="109728" cy="109728"/>
          </a:xfrm>
          <a:prstGeom prst="ellipse">
            <a:avLst/>
          </a:prstGeom>
          <a:solidFill>
            <a:srgbClr val="0B1F3A"/>
          </a:solidFill>
          <a:ln w="22225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81326" y="395935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ChatGPT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381326" y="34747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نوفمبر ٢٠٢٢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00012" y="4288536"/>
            <a:ext cx="109728" cy="109728"/>
          </a:xfrm>
          <a:prstGeom prst="ellipse">
            <a:avLst/>
          </a:prstGeom>
          <a:solidFill>
            <a:srgbClr val="0B1F3A"/>
          </a:solidFill>
          <a:ln w="22225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1060" y="445312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AutoGPT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41060" y="4837176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مارس ٢٠٢٣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23321" y="4288536"/>
            <a:ext cx="109728" cy="109728"/>
          </a:xfrm>
          <a:prstGeom prst="ellipse">
            <a:avLst/>
          </a:prstGeom>
          <a:solidFill>
            <a:srgbClr val="0B1F3A"/>
          </a:solidFill>
          <a:ln w="22225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4369" y="395935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64369" y="34747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نوفمبر ٢٠٢٤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93915" y="4288536"/>
            <a:ext cx="109728" cy="109728"/>
          </a:xfrm>
          <a:prstGeom prst="ellipse">
            <a:avLst/>
          </a:prstGeom>
          <a:solidFill>
            <a:srgbClr val="0B1F3A"/>
          </a:solidFill>
          <a:ln w="22225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4963" y="445312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34963" y="4837176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فبراير ٢٠٢٥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306364" y="4288536"/>
            <a:ext cx="109728" cy="109728"/>
          </a:xfrm>
          <a:prstGeom prst="ellipse">
            <a:avLst/>
          </a:prstGeom>
          <a:solidFill>
            <a:srgbClr val="0B1F3A"/>
          </a:solidFill>
          <a:ln w="22225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47412" y="395935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هندسة السياق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547412" y="34747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يونيو ٢٠٢٥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729673" y="4288536"/>
            <a:ext cx="109728" cy="109728"/>
          </a:xfrm>
          <a:prstGeom prst="ellipse">
            <a:avLst/>
          </a:prstGeom>
          <a:solidFill>
            <a:srgbClr val="0B1F3A"/>
          </a:solidFill>
          <a:ln w="22225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70721" y="445312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9B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بروتوكول ACP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970721" y="4837176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يونيو ٢٠٢٥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1311128" y="4288536"/>
            <a:ext cx="109728" cy="109728"/>
          </a:xfrm>
          <a:prstGeom prst="ellipse">
            <a:avLst/>
          </a:prstGeom>
          <a:solidFill>
            <a:srgbClr val="0B1F3A"/>
          </a:solidFill>
          <a:ln w="22225">
            <a:solidFill>
              <a:srgbClr val="00D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04120" y="395935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9B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OpenClaw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104120" y="34747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يناير ٢٠٢٦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1420856" y="1289304"/>
            <a:ext cx="109728" cy="109728"/>
          </a:xfrm>
          <a:prstGeom prst="ellipse">
            <a:avLst/>
          </a:prstGeom>
          <a:solidFill>
            <a:srgbClr val="C9A959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1234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العهد الذهبي للأوامر (٢٠٢٠ – ٢٠٢٣):  </a:t>
            </a:r>
            <a:r>
              <a:rPr lang="en-US" sz="12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صياغة السؤال الصحيح هي المهارة — Zero/Few-shot، سلسلة التفكير، ReAct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11420856" y="2002536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194767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ثورة السياق (٢٠٢٤ – ٢٠٢٥):  </a:t>
            </a:r>
            <a:r>
              <a:rPr lang="en-US" sz="12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النموذج ثابت؛ ما يتغيّر هو ما نُدخل إليه — RAG، الذاكرة، الأدوات، MCP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11420856" y="2715768"/>
            <a:ext cx="109728" cy="109728"/>
          </a:xfrm>
          <a:prstGeom prst="ellipse">
            <a:avLst/>
          </a:prstGeom>
          <a:solidFill>
            <a:srgbClr val="9BE8FF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266090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9B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عهد الحزام (٢٠٢٥ – ٢٠٢٦):  </a:t>
            </a:r>
            <a:r>
              <a:rPr lang="en-US" sz="12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البنية التحتية المحيطة بالنموذج هي المنتج — حلقة الوكيل، الصلاحيات، دورة الحياة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2011680" y="6473952"/>
            <a:ext cx="9720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المصادر: arXiv (2020)، Anthropic (Nov 2024)، Zed (Jun 2025)، Wikipedia/OpenClaw (2026) — تواريخ موثقة حتى سبتمبر ٢٠٢٦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5880" y="310896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ثلاث مراحل، وشيء واحد يتغيّر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25880" y="86868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ما نبرمجه نحن البشر ينتقل إلى طبقة أعمق في كل مرة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٠٣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074152" y="1463040"/>
            <a:ext cx="3429000" cy="4434840"/>
          </a:xfrm>
          <a:prstGeom prst="roundRect">
            <a:avLst>
              <a:gd name="adj" fmla="val 2400"/>
            </a:avLst>
          </a:prstGeom>
          <a:solidFill>
            <a:srgbClr val="0E2A4F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17936" y="1746504"/>
            <a:ext cx="164592" cy="164592"/>
          </a:xfrm>
          <a:prstGeom prst="ellipse">
            <a:avLst/>
          </a:prstGeom>
          <a:solidFill>
            <a:srgbClr val="C9A959"/>
          </a:solidFill>
          <a:ln/>
        </p:spPr>
      </p:sp>
      <p:sp>
        <p:nvSpPr>
          <p:cNvPr id="7" name="Text 5"/>
          <p:cNvSpPr/>
          <p:nvPr/>
        </p:nvSpPr>
        <p:spPr>
          <a:xfrm>
            <a:off x="8302752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02752" y="204825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هندسة الأوامر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02752" y="2606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كيف نَسأل؟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02752" y="3090672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صياغة الأمر اللفظي بدقة: أمثلة Few-shot، سلاسل تفكير، أدوار للنموذج. المهارة كتابة «السؤال المثالي» لنموذج ثابت.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02752" y="51206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Zero/Few-shot · CoT · ReAct · الأدوار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08976" y="3657600"/>
            <a:ext cx="265176" cy="0"/>
          </a:xfrm>
          <a:prstGeom prst="line">
            <a:avLst/>
          </a:prstGeom>
          <a:noFill/>
          <a:ln w="15875">
            <a:solidFill>
              <a:srgbClr val="5A71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6200000">
            <a:off x="7690104" y="3598164"/>
            <a:ext cx="118872" cy="118872"/>
          </a:xfrm>
          <a:prstGeom prst="triangle">
            <a:avLst/>
          </a:prstGeom>
          <a:solidFill>
            <a:srgbClr val="5A7186"/>
          </a:solidFill>
          <a:ln/>
        </p:spPr>
      </p:sp>
      <p:sp>
        <p:nvSpPr>
          <p:cNvPr id="14" name="Shape 12"/>
          <p:cNvSpPr/>
          <p:nvPr/>
        </p:nvSpPr>
        <p:spPr>
          <a:xfrm>
            <a:off x="4379976" y="1463040"/>
            <a:ext cx="3429000" cy="4434840"/>
          </a:xfrm>
          <a:prstGeom prst="roundRect">
            <a:avLst>
              <a:gd name="adj" fmla="val 2400"/>
            </a:avLst>
          </a:prstGeom>
          <a:solidFill>
            <a:srgbClr val="0E2A4F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23760" y="1746504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6" name="Text 14"/>
          <p:cNvSpPr/>
          <p:nvPr/>
        </p:nvSpPr>
        <p:spPr>
          <a:xfrm>
            <a:off x="4608576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08576" y="204825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هندسة السياق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608576" y="2606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ماذا نُدخل؟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08576" y="3090672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النموذج لم يعد يتغيّر؛ التحسين انتقل إلى ما يصل إلى نافذة السياق: استرجاع معرفة، ذاكرة، أدوات، تاريخ محادثة.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08576" y="51206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· الذاكرة · الأدوات · MCP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0" y="3657600"/>
            <a:ext cx="265176" cy="0"/>
          </a:xfrm>
          <a:prstGeom prst="line">
            <a:avLst/>
          </a:prstGeom>
          <a:noFill/>
          <a:ln w="15875">
            <a:solidFill>
              <a:srgbClr val="5A718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6200000">
            <a:off x="3995928" y="3598164"/>
            <a:ext cx="118872" cy="118872"/>
          </a:xfrm>
          <a:prstGeom prst="triangle">
            <a:avLst/>
          </a:prstGeom>
          <a:solidFill>
            <a:srgbClr val="5A7186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1463040"/>
            <a:ext cx="3429000" cy="4434840"/>
          </a:xfrm>
          <a:prstGeom prst="roundRect">
            <a:avLst>
              <a:gd name="adj" fmla="val 2400"/>
            </a:avLst>
          </a:prstGeom>
          <a:solidFill>
            <a:srgbClr val="0E2A4F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529584" y="1746504"/>
            <a:ext cx="164592" cy="164592"/>
          </a:xfrm>
          <a:prstGeom prst="ellipse">
            <a:avLst/>
          </a:prstGeom>
          <a:solidFill>
            <a:srgbClr val="9BE8FF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9B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204825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هندسة الحزام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14400" y="2606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9B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بماذا نُحيط؟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3090672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لا نكتب أوامر ولا ندير سياقاً لحظياً — بل نبني النظام بأكمله: حلقة الوكيل، الصلاحيات، الضوابط، دورة الحياة الكاملة.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51206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حلقة الوكيل · الصلاحيات · المهارات · الاختبارات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892808" y="60533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اتجاه التطوّر: من نصّ نكتبه، إلى بيانات نُغذّيها، إلى نظام نبنيه بالكامل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5880" y="310896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هندسة الأوامر: من أين بدأت؟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25880" y="86868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قصة ثلاثة نماذج: من التنبؤ بالكلمة التالية إلى «التعلم ضمن السياق»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31089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0E2A4F"/>
          </a:solidFill>
          <a:ln w="12700">
            <a:solidFill>
              <a:srgbClr val="C9A9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92024" y="9326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هندسة الأوامر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٠٤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881360" y="1554480"/>
            <a:ext cx="0" cy="4023360"/>
          </a:xfrm>
          <a:prstGeom prst="line">
            <a:avLst/>
          </a:prstGeom>
          <a:noFill/>
          <a:ln w="25400">
            <a:solidFill>
              <a:srgbClr val="C9A95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17352" y="2161032"/>
            <a:ext cx="128016" cy="128016"/>
          </a:xfrm>
          <a:prstGeom prst="ellipse">
            <a:avLst/>
          </a:prstGeom>
          <a:solidFill>
            <a:srgbClr val="0B1F3A"/>
          </a:solidFill>
          <a:ln w="22225">
            <a:solidFill>
              <a:srgbClr val="C9A9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950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GPT-1  </a:t>
            </a:r>
            <a:r>
              <a:rPr lang="en-US" sz="12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٢٠١٨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60720" y="2279904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إثبات المفهوم: أول نموذج توليدي مسبق التدريب (117M معامل)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817352" y="3502152"/>
            <a:ext cx="128016" cy="128016"/>
          </a:xfrm>
          <a:prstGeom prst="ellipse">
            <a:avLst/>
          </a:prstGeom>
          <a:solidFill>
            <a:srgbClr val="0B1F3A"/>
          </a:solidFill>
          <a:ln w="22225">
            <a:solidFill>
              <a:srgbClr val="C9A9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3291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GPT-2  </a:t>
            </a:r>
            <a:r>
              <a:rPr lang="en-US" sz="12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٢٠١٩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60720" y="3621024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نافذة 1,024 توكن — تنبؤ بالكلمة التالية، بلا أي فهم للمهمة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817352" y="4843272"/>
            <a:ext cx="128016" cy="128016"/>
          </a:xfrm>
          <a:prstGeom prst="ellipse">
            <a:avLst/>
          </a:prstGeom>
          <a:solidFill>
            <a:srgbClr val="0B1F3A"/>
          </a:solidFill>
          <a:ln w="22225">
            <a:solidFill>
              <a:srgbClr val="C9A9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4632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GPT-3  </a:t>
            </a:r>
            <a:r>
              <a:rPr lang="en-US" sz="12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٢٠٢٠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760720" y="4962144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175B معامل ونافذة 2,048: أمثلة داخل الأمر تكفي لتعليم المهمة — «التعلم ضمن السياق»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195560" y="5852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٢٠١٨ ← ٢٠٢٠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1920240"/>
            <a:ext cx="4480560" cy="3429000"/>
          </a:xfrm>
          <a:prstGeom prst="roundRect">
            <a:avLst>
              <a:gd name="adj" fmla="val 2400"/>
            </a:avLst>
          </a:prstGeom>
          <a:solidFill>
            <a:srgbClr val="102E56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2148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جوهر هندسة الأوامر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651760"/>
            <a:ext cx="1828800" cy="566928"/>
          </a:xfrm>
          <a:prstGeom prst="rect">
            <a:avLst/>
          </a:prstGeom>
          <a:solidFill>
            <a:srgbClr val="0E2A4F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6517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الأمر المُحكم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108960" y="26517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ما نتحكم فيه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965960" y="3218688"/>
            <a:ext cx="0" cy="91440"/>
          </a:xfrm>
          <a:prstGeom prst="line">
            <a:avLst/>
          </a:prstGeom>
          <a:noFill/>
          <a:ln w="15875">
            <a:solidFill>
              <a:srgbClr val="5A718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0800000">
            <a:off x="1906524" y="3191256"/>
            <a:ext cx="118872" cy="118872"/>
          </a:xfrm>
          <a:prstGeom prst="triangle">
            <a:avLst/>
          </a:prstGeom>
          <a:solidFill>
            <a:srgbClr val="5A718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" y="3438144"/>
            <a:ext cx="1828800" cy="566928"/>
          </a:xfrm>
          <a:prstGeom prst="rect">
            <a:avLst/>
          </a:prstGeom>
          <a:solidFill>
            <a:srgbClr val="0B1F3A"/>
          </a:solidFill>
          <a:ln w="19050">
            <a:solidFill>
              <a:srgbClr val="C9A95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343814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النموذج الثابت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108960" y="343814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ما لا نتحكم فيه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965960" y="4005072"/>
            <a:ext cx="0" cy="91440"/>
          </a:xfrm>
          <a:prstGeom prst="line">
            <a:avLst/>
          </a:prstGeom>
          <a:noFill/>
          <a:ln w="15875">
            <a:solidFill>
              <a:srgbClr val="5A718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10800000">
            <a:off x="1906524" y="3977640"/>
            <a:ext cx="118872" cy="118872"/>
          </a:xfrm>
          <a:prstGeom prst="triangle">
            <a:avLst/>
          </a:prstGeom>
          <a:solidFill>
            <a:srgbClr val="5A7186"/>
          </a:solidFill>
          <a:ln/>
        </p:spPr>
      </p:sp>
      <p:sp>
        <p:nvSpPr>
          <p:cNvPr id="31" name="Shape 29"/>
          <p:cNvSpPr/>
          <p:nvPr/>
        </p:nvSpPr>
        <p:spPr>
          <a:xfrm>
            <a:off x="1051560" y="4224528"/>
            <a:ext cx="1828800" cy="566928"/>
          </a:xfrm>
          <a:prstGeom prst="rect">
            <a:avLst/>
          </a:prstGeom>
          <a:solidFill>
            <a:srgbClr val="0E2A4F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42245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الخرج المُحسَّن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108960" y="42245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النتيجة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68680" y="4892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كل المعرفة اللازمة يجب أن تسكن داخل نصّ الأمر نفسه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011680" y="6473952"/>
            <a:ext cx="9720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المصادر: «Language Models are Few-Shot Learners» (arXiv:2005.14165)، GPT-2 paper (OpenAI, 2019)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5880" y="310896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صندوق أدوات هندسة الأوامر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25880" y="86868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أربع تقنيات رسّخت صياغة الأمر مهارةً برمجية قائمة بذاتها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31089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0E2A4F"/>
          </a:solidFill>
          <a:ln w="12700">
            <a:solidFill>
              <a:srgbClr val="C9A9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92024" y="9326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هندسة الأوامر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٠٥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81328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0E2A4F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744200" y="14813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٠١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406640" y="15910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Zero-shot / Few-shot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4066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٢٠٢٠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06040" y="1481328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تغذية النموذج بأمثلة صفرية أو قليلة داخل الأمر نفسه — بلا أي تدريب إضافي. أثبتتها ورقة GPT-3.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481328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الأمثلة داخل النص تُعلّم المهمة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1064240" y="2441448"/>
            <a:ext cx="0" cy="155448"/>
          </a:xfrm>
          <a:prstGeom prst="line">
            <a:avLst/>
          </a:prstGeom>
          <a:noFill/>
          <a:ln w="15875">
            <a:solidFill>
              <a:srgbClr val="5A71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0800000">
            <a:off x="11004804" y="2478024"/>
            <a:ext cx="118872" cy="118872"/>
          </a:xfrm>
          <a:prstGeom prst="triangle">
            <a:avLst/>
          </a:prstGeom>
          <a:solidFill>
            <a:srgbClr val="5A7186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596896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0E2A4F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744200" y="2596896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٠٢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406640" y="27066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سلسلة التفكير — CoT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406640" y="3127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يناير ٢٠٢٢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06040" y="2596896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مطالبة النموذج بـ«فكّر خطوة بخطوة» قبل الإجابة — قفزة في دقة الاستدلال الرياضي والمنطقي.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2596896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«لنفكّر خطوة بخطوة» تفتح الاستدلال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064240" y="3557016"/>
            <a:ext cx="0" cy="155448"/>
          </a:xfrm>
          <a:prstGeom prst="line">
            <a:avLst/>
          </a:prstGeom>
          <a:noFill/>
          <a:ln w="15875">
            <a:solidFill>
              <a:srgbClr val="5A718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11004804" y="3593592"/>
            <a:ext cx="118872" cy="118872"/>
          </a:xfrm>
          <a:prstGeom prst="triangle">
            <a:avLst/>
          </a:prstGeom>
          <a:solidFill>
            <a:srgbClr val="5A7186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712464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0E2A4F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744200" y="3712464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٠٣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406640" y="3822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406640" y="4242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أكتوبر ٢٠٢٢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06040" y="3712464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دمج التفكير بالفعل: النموذج يفكّر ثم يستدعي أداة ثم يلاحظ النتيجة — الجدّ المباشر لحلقة الوكيل.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3712464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التفكير + الفعل في حلقة واحدة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1064240" y="4672584"/>
            <a:ext cx="0" cy="155448"/>
          </a:xfrm>
          <a:prstGeom prst="line">
            <a:avLst/>
          </a:prstGeom>
          <a:noFill/>
          <a:ln w="15875">
            <a:solidFill>
              <a:srgbClr val="5A718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10800000">
            <a:off x="11004804" y="4709160"/>
            <a:ext cx="118872" cy="118872"/>
          </a:xfrm>
          <a:prstGeom prst="triangle">
            <a:avLst/>
          </a:prstGeom>
          <a:solidFill>
            <a:srgbClr val="5A7186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4828032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0E2A4F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744200" y="4828032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٠٤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406640" y="4937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الأدوار — Role Prompting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7406640" y="5358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٢٠٢٢ – ٢٠٢٣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06040" y="4828032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«أنت خبير قانوني…» — تقييد الأسلوب والمجال وتحسين الاتساق بتكليف النموذج شخصية محددة.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" y="4828032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الشخصية تقيّد فضاء الإجابة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011680" y="6492240"/>
            <a:ext cx="9720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المصادر: Wei et al. (arXiv:2201.11903)، Yao et al. (arXiv:2210.03629)، Brown et al. (arXiv:2005.14165)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5880" y="310896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حدود هندسة الأوامر — نقطة الانعطاف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25880" y="86868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النموذج يعرف الكثير، لكنه لا يتذكر ولا يملك أدوات ولا يرى إلا نافذته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31089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0E2A4F"/>
          </a:solidFill>
          <a:ln w="12700">
            <a:solidFill>
              <a:srgbClr val="C9A9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92024" y="9326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هندسة الأوامر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٠٦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1353312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7200"/>
              </a:lnSpc>
              <a:buNone/>
            </a:pPr>
            <a:r>
              <a:rPr lang="en-US" sz="680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2,048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5852160" y="25603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توكن — كل «ذاكرة» GPT-3 المتاحة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52160" y="29718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كل المعرفة يجب أن تُحشر داخل الأمر — وما لا يتسع يُنسى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0056" y="1636776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لا ذاكرة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192938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كل محادثة تبدأ من الصفر — لا تاريخ، لا تعلّم من الجلسات السابقة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0056" y="2715768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0" y="2679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لا أدوات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00837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لا يمكنه البحث أو الحساب أو الوصول إلى أي نظام خارجي — عالَم مغلَق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0056" y="3794760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2926080" y="37581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لا معرفة محدّثة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08736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المعرفة مُجمّدة عند تاريخ التدريب — والنموذج لا «يعرف» ما جهله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0056" y="4873752"/>
            <a:ext cx="109728" cy="109728"/>
          </a:xfrm>
          <a:prstGeom prst="ellipse">
            <a:avLst/>
          </a:prstGeom>
          <a:solidFill>
            <a:srgbClr val="C9A959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0" y="48371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هشاشة الصياغة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1663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تغيير كلمة واحدة في الأمر قد يقلب جودة الخرج رأساً على عقب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806440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102E56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580644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القفزة التالية:  </a:t>
            </a:r>
            <a:r>
              <a:rPr lang="en-US" sz="12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إذا كانت المشكلة في «ما يدخل إلى النموذج» — فالحل ليس أمراً أذكى، بل نظاماً يُدير المدخلات. ← هندسة السياق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011680" y="6547104"/>
            <a:ext cx="9720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المصادر: نافذة سياق GPT-3 (2,048 توكن) — Brown et al. 2020؛ حدود AutoGPT المبكرة — Wikipedia (2026)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5880" y="310896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هندسة السياق: لماذا؟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25880" y="86868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عندما تثبت النماذج، يصبح التنافس على ما يدخل إليها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31089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0E2A4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92024" y="9326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هندسة السياق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٠٧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4846320" cy="4480560"/>
          </a:xfrm>
          <a:prstGeom prst="roundRect">
            <a:avLst>
              <a:gd name="adj" fmla="val 1837"/>
            </a:avLst>
          </a:prstGeom>
          <a:solidFill>
            <a:srgbClr val="0E2A4F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29844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”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«+1 لهندسة السياق بدل هندسة الأوامر. إنها الفن الرقيق لملء نافذة السياق بالمعلومات الصحيحة تماماً للخطوة القادمة»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68680" y="4251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أندريه كارباثي، يونيو ٢٠٢٥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7091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المصطلح روّجه توبي ليوتكي (Shopify) ثم تبنّاه كارباثي؛ وعرّفه هاريسون تشيس (LangChain) ببناء أنظمة ديناميكية تُوصل المعلومة والأداة الصحيحتين بالتنسيق الصحيح.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23560" y="1417320"/>
            <a:ext cx="6016752" cy="4480560"/>
          </a:xfrm>
          <a:prstGeom prst="roundRect">
            <a:avLst>
              <a:gd name="adj" fmla="val 1837"/>
            </a:avLst>
          </a:prstGeom>
          <a:solidFill>
            <a:srgbClr val="102E56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9788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تشبيه «نظام التشغيل»: النموذج معالج، والسياق ذاكرة RAM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897880" y="2121408"/>
            <a:ext cx="5486400" cy="548640"/>
          </a:xfrm>
          <a:prstGeom prst="rect">
            <a:avLst/>
          </a:prstGeom>
          <a:solidFill>
            <a:srgbClr val="0E2A4F"/>
          </a:solidFill>
          <a:ln/>
        </p:spPr>
      </p:sp>
      <p:sp>
        <p:nvSpPr>
          <p:cNvPr id="16" name="Text 14"/>
          <p:cNvSpPr/>
          <p:nvPr/>
        </p:nvSpPr>
        <p:spPr>
          <a:xfrm>
            <a:off x="9464040" y="21214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— استرجاع المعرفة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89320" y="21214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مستندات وأجزاء مسترجعة لحظياً من قاعدة معرفة خارجية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97880" y="2743200"/>
            <a:ext cx="5486400" cy="548640"/>
          </a:xfrm>
          <a:prstGeom prst="rect">
            <a:avLst/>
          </a:prstGeom>
          <a:solidFill>
            <a:srgbClr val="0E2A4F"/>
          </a:solidFill>
          <a:ln/>
        </p:spPr>
      </p:sp>
      <p:sp>
        <p:nvSpPr>
          <p:cNvPr id="19" name="Text 17"/>
          <p:cNvSpPr/>
          <p:nvPr/>
        </p:nvSpPr>
        <p:spPr>
          <a:xfrm>
            <a:off x="9464040" y="2743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الذاكرة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89320" y="2743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تاريخ الجلسات والمحادثات السابقة مضغوطاً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97880" y="3364992"/>
            <a:ext cx="5486400" cy="548640"/>
          </a:xfrm>
          <a:prstGeom prst="rect">
            <a:avLst/>
          </a:prstGeom>
          <a:solidFill>
            <a:srgbClr val="0E2A4F"/>
          </a:solidFill>
          <a:ln/>
        </p:spPr>
      </p:sp>
      <p:sp>
        <p:nvSpPr>
          <p:cNvPr id="22" name="Text 20"/>
          <p:cNvSpPr/>
          <p:nvPr/>
        </p:nvSpPr>
        <p:spPr>
          <a:xfrm>
            <a:off x="9464040" y="33649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الأدوات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9320" y="33649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مخزون قدرات النموذج: بحث، تشغيل شيفرة، استدعاء APIs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97880" y="3986784"/>
            <a:ext cx="5486400" cy="548640"/>
          </a:xfrm>
          <a:prstGeom prst="rect">
            <a:avLst/>
          </a:prstGeom>
          <a:solidFill>
            <a:srgbClr val="0E2A4F"/>
          </a:solidFill>
          <a:ln/>
        </p:spPr>
      </p:sp>
      <p:sp>
        <p:nvSpPr>
          <p:cNvPr id="25" name="Text 23"/>
          <p:cNvSpPr/>
          <p:nvPr/>
        </p:nvSpPr>
        <p:spPr>
          <a:xfrm>
            <a:off x="9464040" y="398678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التاريخ والحالة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89320" y="398678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ما جرى في هذه المهمة حتى اللحظة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641080" y="4590288"/>
            <a:ext cx="0" cy="237744"/>
          </a:xfrm>
          <a:prstGeom prst="line">
            <a:avLst/>
          </a:prstGeom>
          <a:noFill/>
          <a:ln w="15875">
            <a:solidFill>
              <a:srgbClr val="00D4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0800000">
            <a:off x="8581644" y="4709160"/>
            <a:ext cx="118872" cy="118872"/>
          </a:xfrm>
          <a:prstGeom prst="triangle">
            <a:avLst/>
          </a:prstGeom>
          <a:solidFill>
            <a:srgbClr val="00D4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126480" y="4901184"/>
            <a:ext cx="5120640" cy="640080"/>
          </a:xfrm>
          <a:prstGeom prst="rect">
            <a:avLst/>
          </a:prstGeom>
          <a:solidFill>
            <a:srgbClr val="00D4FF">
              <a:alpha val="18000"/>
            </a:srgbClr>
          </a:solidFill>
          <a:ln w="15875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490118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نافذة السياق  </a:t>
            </a:r>
            <a:r>
              <a:rPr lang="en-US" sz="12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(RAM) — كل ما يراه النموذج الآن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897880" y="5596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النموذج (المعالج) يستهلك النافذة في كل خطوة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011680" y="6473952"/>
            <a:ext cx="9720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المصادر: Karpathy (يونيو ٢٠٢٥) عبر Simon Willison؛ Chase — «The rise of context engineering» (LangChain, Jun 2025)؛ تشبيه LLM-OS — Karpathy (2023)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5880" y="310896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نافذة السياق تتضخّم ×10,000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25880" y="86868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خلال ست سنوات: من ألف توكن إلى عشرة ملايين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31089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0E2A4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92024" y="9326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هندسة السياق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٠٨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569196" y="4983480"/>
            <a:ext cx="1417320" cy="365760"/>
          </a:xfrm>
          <a:prstGeom prst="rect">
            <a:avLst/>
          </a:prstGeom>
          <a:solidFill>
            <a:srgbClr val="00D4FF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523476" y="4617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1,024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77756" y="5440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477756" y="597103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895844" y="4094683"/>
            <a:ext cx="1417320" cy="1254557"/>
          </a:xfrm>
          <a:prstGeom prst="rect">
            <a:avLst/>
          </a:prstGeom>
          <a:solidFill>
            <a:srgbClr val="00D4FF">
              <a:alpha val="63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850124" y="3728923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2,048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04404" y="5440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804404" y="597103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22492" y="3403397"/>
            <a:ext cx="1417320" cy="1945843"/>
          </a:xfrm>
          <a:prstGeom prst="rect">
            <a:avLst/>
          </a:prstGeom>
          <a:solidFill>
            <a:srgbClr val="00D4FF">
              <a:alpha val="51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176772" y="3037637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31052" y="5440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31052" y="597103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49140" y="2909621"/>
            <a:ext cx="1417320" cy="2439619"/>
          </a:xfrm>
          <a:prstGeom prst="rect">
            <a:avLst/>
          </a:prstGeom>
          <a:solidFill>
            <a:srgbClr val="00D4FF">
              <a:alpha val="39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03420" y="2543861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128K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57700" y="5440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 Turbo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57700" y="597103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875788" y="2613355"/>
            <a:ext cx="1417320" cy="2735885"/>
          </a:xfrm>
          <a:prstGeom prst="rect">
            <a:avLst/>
          </a:prstGeom>
          <a:solidFill>
            <a:srgbClr val="00D4FF">
              <a:alpha val="27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830068" y="2247595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784348" y="5440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1.5 Pro / GPT-4.1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84348" y="597103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2024–25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202436" y="2514600"/>
            <a:ext cx="1417320" cy="28346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9" name="Text 27"/>
          <p:cNvSpPr/>
          <p:nvPr/>
        </p:nvSpPr>
        <p:spPr>
          <a:xfrm>
            <a:off x="1156716" y="21488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10996" y="5440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Llama 4 Scout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10996" y="597103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6263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مقياس لوغاريتمي مبسّط — القيم الحقيقية أعلاه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1371600"/>
            <a:ext cx="2331720" cy="731520"/>
          </a:xfrm>
          <a:prstGeom prst="roundRect">
            <a:avLst>
              <a:gd name="adj" fmla="val 11250"/>
            </a:avLst>
          </a:prstGeom>
          <a:solidFill>
            <a:srgbClr val="0E2A4F"/>
          </a:solidFill>
          <a:ln w="12700">
            <a:solidFill>
              <a:srgbClr val="C9A95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142646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×10,000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40080" y="1828800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نمو النافذة ٢٠١٩ ← ٢٠٢٥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321040" y="15544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نافذة أكبر لا تلغي هندسة السياق — بل تجعل إدارتها أهم: كل توكن يدخل النافذة هو تكلفة، وضجيج، وفرصة تشتيت.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011680" y="6565392"/>
            <a:ext cx="9720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المصادر: Wikipedia (GPT-2/3/4, Gemini, Llama 4)، OpenAI API docs (GPT-4.1: 1,047,576 توكن) — سبتمبر ٢٠٢٦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5880" y="310896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التقنية الأولى: RAG — الاسترجاع المعزّز بالتوليد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25880" y="86868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أعطِ النموذج «مكتبة مفتوحة» قبل أن تسأله — بدل حشرها في الأمر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31089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0E2A4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92024" y="9326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هندسة السياق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٠٩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514332" y="2468880"/>
            <a:ext cx="2011680" cy="2286000"/>
          </a:xfrm>
          <a:prstGeom prst="roundRect">
            <a:avLst>
              <a:gd name="adj" fmla="val 4091"/>
            </a:avLst>
          </a:prstGeom>
          <a:solidFill>
            <a:srgbClr val="0E2A4F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245852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2400"/>
              </a:lnSpc>
              <a:buNone/>
            </a:pPr>
            <a:r>
              <a:rPr lang="en-US" sz="2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١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24060" y="320040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قاعدة المعرفة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51492" y="382219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مستندات مؤسستك: تقارير، عقود، صفحات ويب — تُفهرس مسبقاً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313164" y="3611880"/>
            <a:ext cx="201168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6200000">
            <a:off x="9194292" y="3552444"/>
            <a:ext cx="118872" cy="118872"/>
          </a:xfrm>
          <a:prstGeom prst="triangle">
            <a:avLst/>
          </a:prstGeom>
          <a:solidFill>
            <a:srgbClr val="00D4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301484" y="2468880"/>
            <a:ext cx="2011680" cy="2286000"/>
          </a:xfrm>
          <a:prstGeom prst="roundRect">
            <a:avLst>
              <a:gd name="adj" fmla="val 4091"/>
            </a:avLst>
          </a:prstGeom>
          <a:solidFill>
            <a:srgbClr val="0E2A4F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33004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2400"/>
              </a:lnSpc>
              <a:buNone/>
            </a:pPr>
            <a:r>
              <a:rPr lang="en-US" sz="2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٢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411212" y="320040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الاسترجاع الهجين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438644" y="382219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بحث دلالي (متجهات) + بحث لفظي (BM25) — ويُدمجان بترتيب توافقي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00316" y="3611880"/>
            <a:ext cx="201168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6200000">
            <a:off x="6981444" y="3552444"/>
            <a:ext cx="118872" cy="118872"/>
          </a:xfrm>
          <a:prstGeom prst="triangle">
            <a:avLst/>
          </a:prstGeom>
          <a:solidFill>
            <a:srgbClr val="00D4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088636" y="2468880"/>
            <a:ext cx="2011680" cy="2286000"/>
          </a:xfrm>
          <a:prstGeom prst="roundRect">
            <a:avLst>
              <a:gd name="adj" fmla="val 4091"/>
            </a:avLst>
          </a:prstGeom>
          <a:solidFill>
            <a:srgbClr val="0E2A4F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20156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2400"/>
              </a:lnSpc>
              <a:buNone/>
            </a:pPr>
            <a:r>
              <a:rPr lang="en-US" sz="2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٣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5198364" y="320040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تجميع السياق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25796" y="382219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أفضل الفقرات وحدها تُبنى في سياق مضغوط ومقيد بالميزانية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87468" y="3611880"/>
            <a:ext cx="201168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6200000">
            <a:off x="4768596" y="3552444"/>
            <a:ext cx="118872" cy="118872"/>
          </a:xfrm>
          <a:prstGeom prst="triangle">
            <a:avLst/>
          </a:prstGeom>
          <a:solidFill>
            <a:srgbClr val="00D4FF"/>
          </a:solidFill>
          <a:ln/>
        </p:spPr>
      </p:sp>
      <p:sp>
        <p:nvSpPr>
          <p:cNvPr id="26" name="Shape 24"/>
          <p:cNvSpPr/>
          <p:nvPr/>
        </p:nvSpPr>
        <p:spPr>
          <a:xfrm>
            <a:off x="2875788" y="2468880"/>
            <a:ext cx="2011680" cy="2286000"/>
          </a:xfrm>
          <a:prstGeom prst="roundRect">
            <a:avLst>
              <a:gd name="adj" fmla="val 4091"/>
            </a:avLst>
          </a:prstGeom>
          <a:solidFill>
            <a:srgbClr val="0E2A4F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07308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2400"/>
              </a:lnSpc>
              <a:buNone/>
            </a:pPr>
            <a:r>
              <a:rPr lang="en-US" sz="2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٤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2985516" y="320040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النموذج يولّد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012948" y="382219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إجابة مقيّدة بالمصدر — لا يخترع ما ليس في الفقرات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674620" y="3611880"/>
            <a:ext cx="201168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16200000">
            <a:off x="2555748" y="3552444"/>
            <a:ext cx="118872" cy="118872"/>
          </a:xfrm>
          <a:prstGeom prst="triangle">
            <a:avLst/>
          </a:prstGeom>
          <a:solidFill>
            <a:srgbClr val="00D4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62940" y="2468880"/>
            <a:ext cx="2011680" cy="2286000"/>
          </a:xfrm>
          <a:prstGeom prst="roundRect">
            <a:avLst>
              <a:gd name="adj" fmla="val 4091"/>
            </a:avLst>
          </a:prstGeom>
          <a:solidFill>
            <a:srgbClr val="0E2A4F"/>
          </a:solidFill>
          <a:ln w="9525">
            <a:solidFill>
              <a:srgbClr val="00D4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39446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2400"/>
              </a:lnSpc>
              <a:buNone/>
            </a:pPr>
            <a:r>
              <a:rPr lang="en-US" sz="2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٥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72668" y="320040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إجابة موثّقة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00100" y="382219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كل ادعاء مربوط بمرجعه: صفحة، وثيقة، رابط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0080" y="1572768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لماذا انتصرت؟  </a:t>
            </a:r>
            <a:r>
              <a:rPr lang="en-US" sz="12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معرفة محدّثة + مصادر موثّقة + لا حاجة لإعادة تدريب النموذج — أضحت البنية الافتراضية للأنظمة المؤسسية.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2011680" y="6473952"/>
            <a:ext cx="9720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المصدر: Lewis et al., «Retrieval-Augmented Generation» (arXiv:2005.11401، مايو ٢٠٢٠)؛ الدمج الهجين RRF — وثائق OmniRAG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5880" y="310896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التقنية الثانية: الذاكرة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25880" y="86868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من محادثة بلا ماضٍ إلى وكيل «يتذكّر» تفضيلاتك وسِجِلّك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31089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0E2A4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92024" y="9326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هندسة السياق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١٠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14716" y="1691640"/>
            <a:ext cx="3291840" cy="2377440"/>
          </a:xfrm>
          <a:prstGeom prst="roundRect">
            <a:avLst>
              <a:gd name="adj" fmla="val 3462"/>
            </a:avLst>
          </a:prstGeom>
          <a:solidFill>
            <a:srgbClr val="0E2A4F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89036" y="1920240"/>
            <a:ext cx="2743200" cy="457200"/>
          </a:xfrm>
          <a:prstGeom prst="rect">
            <a:avLst/>
          </a:prstGeom>
          <a:solidFill>
            <a:srgbClr val="00D4FF">
              <a:alpha val="15000"/>
            </a:srgbClr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89036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الذاكرة الفورية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70748" y="2514600"/>
            <a:ext cx="27797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نافذة الجلسة الحالية: آخر الرسائل والاستدعاءات — تُدار لحظياً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70748" y="3730752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تُقاس بالرسائل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40396" y="2880360"/>
            <a:ext cx="27432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6200000">
            <a:off x="7621524" y="2820924"/>
            <a:ext cx="118872" cy="118872"/>
          </a:xfrm>
          <a:prstGeom prst="triangle">
            <a:avLst/>
          </a:prstGeom>
          <a:solidFill>
            <a:srgbClr val="00D4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448556" y="1691640"/>
            <a:ext cx="3291840" cy="2377440"/>
          </a:xfrm>
          <a:prstGeom prst="roundRect">
            <a:avLst>
              <a:gd name="adj" fmla="val 3462"/>
            </a:avLst>
          </a:prstGeom>
          <a:solidFill>
            <a:srgbClr val="0E2A4F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22876" y="1920240"/>
            <a:ext cx="2743200" cy="457200"/>
          </a:xfrm>
          <a:prstGeom prst="rect">
            <a:avLst/>
          </a:prstGeom>
          <a:solidFill>
            <a:srgbClr val="00D4FF">
              <a:alpha val="15000"/>
            </a:srgbClr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2876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الذاكرة قصيرة المدى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04588" y="2514600"/>
            <a:ext cx="27797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تلخيص وضغط تلقائي: الجلسة الطويلة تتحول إلى ملخص يُحمل في السياق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4588" y="3730752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تُقاس بالتوكنات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74236" y="2880360"/>
            <a:ext cx="27432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6200000">
            <a:off x="4055364" y="2820924"/>
            <a:ext cx="118872" cy="118872"/>
          </a:xfrm>
          <a:prstGeom prst="triangle">
            <a:avLst/>
          </a:prstGeom>
          <a:solidFill>
            <a:srgbClr val="00D4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82396" y="1691640"/>
            <a:ext cx="3291840" cy="2377440"/>
          </a:xfrm>
          <a:prstGeom prst="roundRect">
            <a:avLst>
              <a:gd name="adj" fmla="val 3462"/>
            </a:avLst>
          </a:prstGeom>
          <a:solidFill>
            <a:srgbClr val="0E2A4F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156716" y="1920240"/>
            <a:ext cx="2743200" cy="457200"/>
          </a:xfrm>
          <a:prstGeom prst="rect">
            <a:avLst/>
          </a:prstGeom>
          <a:solidFill>
            <a:srgbClr val="00D4FF">
              <a:alpha val="15000"/>
            </a:srgbClr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56716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الذاكرة طويلة المدى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38428" y="2514600"/>
            <a:ext cx="27797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مخازن متجهات دائمة: تفضيلات، حقائق، مشاريع سابقة — تُسترجع عند الحاجة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38428" y="3730752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تُقاس بالأشهر والسنوات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52628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02E56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46817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تطبيق واقعي: OpenClaw يتذكّر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" y="5029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ذاكرة OpenClaw تعمل كملفات سِجِل ومهارات على جهازك: يتذكّر محادثاتك، تفضيلاتك، مشاريعك عبر الجلسات والقنوات — واتساب وغيره — ويبني ملفاً شخصياً متراكماً. التحدي المصاحب: خصوصية هذه الذاكرة وأمنها.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011680" y="6473952"/>
            <a:ext cx="9720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المصادر: معمارية ذاكرة الوكلاء — LangChain/LangGraph docs؛ ذاكرة OpenClaw الدائمة — GitHub/Wikipedia (2026)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5880" y="310896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التقنية الثالثة: استخدام الأدوات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25880" y="86868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من نموذج «يتكلم فقط» إلى نظام يستدعي بحثاً وشيفرة وAPIs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31089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0E2A4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92024" y="9326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هندسة السياق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١١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10543032" cy="0"/>
          </a:xfrm>
          <a:prstGeom prst="line">
            <a:avLst/>
          </a:prstGeom>
          <a:noFill/>
          <a:ln w="25400">
            <a:solidFill>
              <a:srgbClr val="5A718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2276856"/>
            <a:ext cx="109728" cy="109728"/>
          </a:xfrm>
          <a:prstGeom prst="ellipse">
            <a:avLst/>
          </a:prstGeom>
          <a:solidFill>
            <a:srgbClr val="0B1F3A"/>
          </a:solidFill>
          <a:ln w="22225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476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Toolformer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فبراير ٢٠٢٣ — النموذج يتعلم متى يستدعي أداةً بنفسه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9612" y="2276856"/>
            <a:ext cx="109728" cy="109728"/>
          </a:xfrm>
          <a:prstGeom prst="ellipse">
            <a:avLst/>
          </a:prstGeom>
          <a:solidFill>
            <a:srgbClr val="0B1F3A"/>
          </a:solidFill>
          <a:ln w="22225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97196" y="19476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 Calling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97196" y="1463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يونيو ٢٠٢٣ — OpenAI تُقيّس الاستدعاء المُهيكل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1311128" y="2276856"/>
            <a:ext cx="109728" cy="109728"/>
          </a:xfrm>
          <a:prstGeom prst="ellipse">
            <a:avLst/>
          </a:prstGeom>
          <a:solidFill>
            <a:srgbClr val="0B1F3A"/>
          </a:solidFill>
          <a:ln w="22225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37192" y="19476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— Anthropic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537192" y="1463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نوفمبر ٢٠٢٤ — «منفذ USB» موحّد لكل الأدوات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14400" y="3291840"/>
            <a:ext cx="10332720" cy="2286000"/>
          </a:xfrm>
          <a:prstGeom prst="roundRect">
            <a:avLst>
              <a:gd name="adj" fmla="val 2800"/>
            </a:avLst>
          </a:prstGeom>
          <a:solidFill>
            <a:srgbClr val="102E56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4300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حلقة استدعاء الأداة (Tool-Use Loop)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95460" y="3950208"/>
            <a:ext cx="1783080" cy="566928"/>
          </a:xfrm>
          <a:prstGeom prst="rect">
            <a:avLst/>
          </a:prstGeom>
          <a:solidFill>
            <a:srgbClr val="0E2A4F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41180" y="39502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١ · طلب المستخدم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75420" y="4233672"/>
            <a:ext cx="320040" cy="0"/>
          </a:xfrm>
          <a:prstGeom prst="line">
            <a:avLst/>
          </a:prstGeom>
          <a:noFill/>
          <a:ln w="15875">
            <a:solidFill>
              <a:srgbClr val="5A718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6200000">
            <a:off x="8956548" y="4174236"/>
            <a:ext cx="118872" cy="118872"/>
          </a:xfrm>
          <a:prstGeom prst="triangle">
            <a:avLst/>
          </a:prstGeom>
          <a:solidFill>
            <a:srgbClr val="5A7186"/>
          </a:solidFill>
          <a:ln/>
        </p:spPr>
      </p:sp>
      <p:sp>
        <p:nvSpPr>
          <p:cNvPr id="24" name="Shape 22"/>
          <p:cNvSpPr/>
          <p:nvPr/>
        </p:nvSpPr>
        <p:spPr>
          <a:xfrm>
            <a:off x="7292340" y="3950208"/>
            <a:ext cx="1783080" cy="566928"/>
          </a:xfrm>
          <a:prstGeom prst="rect">
            <a:avLst/>
          </a:prstGeom>
          <a:solidFill>
            <a:srgbClr val="0E2A4F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38060" y="39502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٢ · النموذج يقرر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72300" y="4233672"/>
            <a:ext cx="320040" cy="0"/>
          </a:xfrm>
          <a:prstGeom prst="line">
            <a:avLst/>
          </a:prstGeom>
          <a:noFill/>
          <a:ln w="15875">
            <a:solidFill>
              <a:srgbClr val="5A718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6200000">
            <a:off x="6853428" y="4174236"/>
            <a:ext cx="118872" cy="118872"/>
          </a:xfrm>
          <a:prstGeom prst="triangle">
            <a:avLst/>
          </a:prstGeom>
          <a:solidFill>
            <a:srgbClr val="5A7186"/>
          </a:solidFill>
          <a:ln/>
        </p:spPr>
      </p:sp>
      <p:sp>
        <p:nvSpPr>
          <p:cNvPr id="28" name="Shape 26"/>
          <p:cNvSpPr/>
          <p:nvPr/>
        </p:nvSpPr>
        <p:spPr>
          <a:xfrm>
            <a:off x="5189220" y="3950208"/>
            <a:ext cx="1783080" cy="566928"/>
          </a:xfrm>
          <a:prstGeom prst="rect">
            <a:avLst/>
          </a:prstGeom>
          <a:solidFill>
            <a:srgbClr val="0E2A4F"/>
          </a:solidFill>
          <a:ln w="15875">
            <a:solidFill>
              <a:srgbClr val="C9A95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4940" y="39502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٣ · استدعاء الأداة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69180" y="4233672"/>
            <a:ext cx="320040" cy="0"/>
          </a:xfrm>
          <a:prstGeom prst="line">
            <a:avLst/>
          </a:prstGeom>
          <a:noFill/>
          <a:ln w="15875">
            <a:solidFill>
              <a:srgbClr val="5A718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16200000">
            <a:off x="4750308" y="4174236"/>
            <a:ext cx="118872" cy="118872"/>
          </a:xfrm>
          <a:prstGeom prst="triangle">
            <a:avLst/>
          </a:prstGeom>
          <a:solidFill>
            <a:srgbClr val="5A7186"/>
          </a:solidFill>
          <a:ln/>
        </p:spPr>
      </p:sp>
      <p:sp>
        <p:nvSpPr>
          <p:cNvPr id="32" name="Shape 30"/>
          <p:cNvSpPr/>
          <p:nvPr/>
        </p:nvSpPr>
        <p:spPr>
          <a:xfrm>
            <a:off x="3086100" y="3950208"/>
            <a:ext cx="1783080" cy="566928"/>
          </a:xfrm>
          <a:prstGeom prst="rect">
            <a:avLst/>
          </a:prstGeom>
          <a:solidFill>
            <a:srgbClr val="0E2A4F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31820" y="39502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٤ · ملاحظة النتيجة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66060" y="4233672"/>
            <a:ext cx="320040" cy="0"/>
          </a:xfrm>
          <a:prstGeom prst="line">
            <a:avLst/>
          </a:prstGeom>
          <a:noFill/>
          <a:ln w="15875">
            <a:solidFill>
              <a:srgbClr val="5A718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6200000">
            <a:off x="2647188" y="4174236"/>
            <a:ext cx="118872" cy="118872"/>
          </a:xfrm>
          <a:prstGeom prst="triangle">
            <a:avLst/>
          </a:prstGeom>
          <a:solidFill>
            <a:srgbClr val="5A7186"/>
          </a:solidFill>
          <a:ln/>
        </p:spPr>
      </p:sp>
      <p:sp>
        <p:nvSpPr>
          <p:cNvPr id="36" name="Shape 34"/>
          <p:cNvSpPr/>
          <p:nvPr/>
        </p:nvSpPr>
        <p:spPr>
          <a:xfrm>
            <a:off x="982980" y="3950208"/>
            <a:ext cx="1783080" cy="566928"/>
          </a:xfrm>
          <a:prstGeom prst="rect">
            <a:avLst/>
          </a:prstGeom>
          <a:solidFill>
            <a:srgbClr val="0E2A4F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8700" y="39502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٥ · إجابة نهائية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43000" y="477316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الأثر:  </a:t>
            </a:r>
            <a:r>
              <a:rPr lang="en-US" sz="11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النموذج لم يعد مجرّد «مرجع معرفي» يوصف له العالم — بل فاعل يبحث، ينفّذ، ويقرأ نتائج أفعاله. هذه هي البوّابة العملية الأولى لعالم الوكلاء.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2011680" y="6473952"/>
            <a:ext cx="9720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المصادر: Schick et al. Toolformer (arXiv:2302.04761)؛ OpenAI Function Calling (Jun 2023)؛ Anthropic MCP (Nov 25, 2024)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5880" y="310896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هندسة الحزام: ما هو «الحزام»؟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25880" y="86868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كل ما يحيط بالنموذج ويحدد نجاحه أو فشله — الحزام هو المنتج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31089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0E2A4F"/>
          </a:solidFill>
          <a:ln w="12700">
            <a:solidFill>
              <a:srgbClr val="9BE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9B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92024" y="9326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B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هندسة الحزام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١٢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51560" y="1783080"/>
            <a:ext cx="3931920" cy="3931920"/>
          </a:xfrm>
          <a:prstGeom prst="ellipse">
            <a:avLst/>
          </a:prstGeom>
          <a:solidFill>
            <a:srgbClr val="102E56"/>
          </a:solidFill>
          <a:ln w="9525">
            <a:solidFill>
              <a:srgbClr val="9BE8FF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81328" y="2212848"/>
            <a:ext cx="3072384" cy="3072384"/>
          </a:xfrm>
          <a:prstGeom prst="ellipse">
            <a:avLst/>
          </a:prstGeom>
          <a:solidFill>
            <a:srgbClr val="102E56"/>
          </a:solidFill>
          <a:ln w="9525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11096" y="2642616"/>
            <a:ext cx="2212848" cy="2212848"/>
          </a:xfrm>
          <a:prstGeom prst="ellipse">
            <a:avLst/>
          </a:prstGeom>
          <a:solidFill>
            <a:srgbClr val="102E56"/>
          </a:solidFill>
          <a:ln w="9525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40864" y="3072384"/>
            <a:ext cx="1353312" cy="1353312"/>
          </a:xfrm>
          <a:prstGeom prst="ellipse">
            <a:avLst/>
          </a:prstGeom>
          <a:solidFill>
            <a:srgbClr val="0E2A4F"/>
          </a:solidFill>
          <a:ln w="19050">
            <a:solidFill>
              <a:srgbClr val="C9A9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40864" y="3529584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النموذج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240280" y="27797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حلقة الوكيل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0280" y="2304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واجهة الأدوات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40280" y="18470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إدارة السياق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B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الصلاحيات والتحكم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5989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النموذج في المركز — والحزام يحيط به من كل جانب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0" y="1463040"/>
            <a:ext cx="5943600" cy="4572000"/>
          </a:xfrm>
          <a:prstGeom prst="roundRect">
            <a:avLst>
              <a:gd name="adj" fmla="val 1800"/>
            </a:avLst>
          </a:prstGeom>
          <a:solidFill>
            <a:srgbClr val="0E2A4F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9B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تعريف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0" y="20116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«هندسة الحزام هي تصميم السقالة المحيطة بوكيل ذكاء اصطناعي — إيصال السياق، واجهات الأدوات، مخططات العمل، حلقات التحقق، أنظمة الذاكرة، والصناديق المعزولة — وهي ما يحدد نجاح الوكيل أو فشله».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3200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OpenAI، منشور «Harness Engineering» الرسمي (فبراير ٢٠٢٦)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237976" y="3730752"/>
            <a:ext cx="109728" cy="109728"/>
          </a:xfrm>
          <a:prstGeom prst="ellipse">
            <a:avLst/>
          </a:prstGeom>
          <a:solidFill>
            <a:srgbClr val="C9A959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0" y="370332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حلقة الوكيل  —  </a:t>
            </a:r>
            <a:r>
              <a:rPr lang="en-US" sz="10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يفكّر → يفعل → يلاحظ → يكرّر حتى إنجاز المهمة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1237976" y="4297680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4270248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واجهة الأدوات  —  </a:t>
            </a:r>
            <a:r>
              <a:rPr lang="en-US" sz="10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وأدوات مخصصة: بحث، شيفرة، ملفات، متصفح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1237976" y="4864608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4837176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إدارة السياق والضغط  —  </a:t>
            </a:r>
            <a:r>
              <a:rPr lang="en-US" sz="10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ملء النافذة بالصحيح، ثم ضغطها عند التضخم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1237976" y="5431536"/>
            <a:ext cx="109728" cy="109728"/>
          </a:xfrm>
          <a:prstGeom prst="ellipse">
            <a:avLst/>
          </a:prstGeom>
          <a:solidFill>
            <a:srgbClr val="9BE8FF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0" y="5404104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الصلاحيات والتحكم  —  </a:t>
            </a:r>
            <a:r>
              <a:rPr lang="en-US" sz="10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أبواب موافقة، عزل، حدود إنفاق — «الحزام» الأمني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011680" y="6473952"/>
            <a:ext cx="9720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المصادر: OpenAI «Harness Engineering» (Feb 2026)؛ SWE-agent «Agent-Computer Interfaces» (Princeton, 2024)؛ awesome-harness-engineering (Mar 2026)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5880" y="310896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تطوّر أُطُر الوكلاء — خمس محطات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25880" y="86868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من أول حلقة وكيل مفتوحة المصدر إلى حزام مفتوح يعيش على جهازك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31089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0E2A4F"/>
          </a:solidFill>
          <a:ln w="12700">
            <a:solidFill>
              <a:srgbClr val="9BE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9B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92024" y="9326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B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هندسة الحزام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١٣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555480" y="1828800"/>
            <a:ext cx="2148840" cy="3200400"/>
          </a:xfrm>
          <a:prstGeom prst="roundRect">
            <a:avLst>
              <a:gd name="adj" fmla="val 3830"/>
            </a:avLst>
          </a:prstGeom>
          <a:solidFill>
            <a:srgbClr val="0E2A4F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126980" y="2029968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00D4FF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126980" y="20299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٢٠٢٣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46920" y="25146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AutoGPT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01784" y="3127248"/>
            <a:ext cx="18562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أول عرض حي للوكيل المستقل: هدفٌ → تخطيط → تنفيذ — إثبات مفهوم مرتجف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646920" y="46177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إثبات المفهوم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436608" y="3429000"/>
            <a:ext cx="118872" cy="0"/>
          </a:xfrm>
          <a:prstGeom prst="line">
            <a:avLst/>
          </a:prstGeom>
          <a:noFill/>
          <a:ln w="15875">
            <a:solidFill>
              <a:srgbClr val="5A71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6200000">
            <a:off x="9317736" y="3369564"/>
            <a:ext cx="118872" cy="118872"/>
          </a:xfrm>
          <a:prstGeom prst="triangle">
            <a:avLst/>
          </a:prstGeom>
          <a:solidFill>
            <a:srgbClr val="5A7186"/>
          </a:solidFill>
          <a:ln/>
        </p:spPr>
      </p:sp>
      <p:sp>
        <p:nvSpPr>
          <p:cNvPr id="16" name="Shape 14"/>
          <p:cNvSpPr/>
          <p:nvPr/>
        </p:nvSpPr>
        <p:spPr>
          <a:xfrm>
            <a:off x="7287768" y="1828800"/>
            <a:ext cx="2148840" cy="3200400"/>
          </a:xfrm>
          <a:prstGeom prst="roundRect">
            <a:avLst>
              <a:gd name="adj" fmla="val 3830"/>
            </a:avLst>
          </a:prstGeom>
          <a:solidFill>
            <a:srgbClr val="0E2A4F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859268" y="2029968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00D4FF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859268" y="20299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٢٠٢٣ – ٢٠٢٤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79208" y="25146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أُطر السلاسل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434072" y="3127248"/>
            <a:ext cx="18562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LangChain وLlamaIndex: مكوّنات جاهزة للسلاسل والأدوات — لكن انضمام منخفض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79208" y="46177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مكوّنات قابلة للتركيب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168896" y="3429000"/>
            <a:ext cx="118872" cy="0"/>
          </a:xfrm>
          <a:prstGeom prst="line">
            <a:avLst/>
          </a:prstGeom>
          <a:noFill/>
          <a:ln w="15875">
            <a:solidFill>
              <a:srgbClr val="5A718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6200000">
            <a:off x="7050024" y="3369564"/>
            <a:ext cx="118872" cy="118872"/>
          </a:xfrm>
          <a:prstGeom prst="triangle">
            <a:avLst/>
          </a:prstGeom>
          <a:solidFill>
            <a:srgbClr val="5A7186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0056" y="1828800"/>
            <a:ext cx="2148840" cy="3200400"/>
          </a:xfrm>
          <a:prstGeom prst="roundRect">
            <a:avLst>
              <a:gd name="adj" fmla="val 3830"/>
            </a:avLst>
          </a:prstGeom>
          <a:solidFill>
            <a:srgbClr val="0E2A4F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91556" y="2029968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00D4FF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591556" y="20299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٢٠٢٤ – ٢٠٢٥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11496" y="25146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تقييس الأدوات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66360" y="3127248"/>
            <a:ext cx="18562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وACP: أدوات موحّدة تعمل مع أي عميل — انفجار منظومة الأدوات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11496" y="46177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معايير مفتوحة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01184" y="3429000"/>
            <a:ext cx="118872" cy="0"/>
          </a:xfrm>
          <a:prstGeom prst="line">
            <a:avLst/>
          </a:prstGeom>
          <a:noFill/>
          <a:ln w="15875">
            <a:solidFill>
              <a:srgbClr val="5A718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16200000">
            <a:off x="4782312" y="3369564"/>
            <a:ext cx="118872" cy="118872"/>
          </a:xfrm>
          <a:prstGeom prst="triangle">
            <a:avLst/>
          </a:prstGeom>
          <a:solidFill>
            <a:srgbClr val="5A7186"/>
          </a:solidFill>
          <a:ln/>
        </p:spPr>
      </p:sp>
      <p:sp>
        <p:nvSpPr>
          <p:cNvPr id="32" name="Shape 30"/>
          <p:cNvSpPr/>
          <p:nvPr/>
        </p:nvSpPr>
        <p:spPr>
          <a:xfrm>
            <a:off x="2752344" y="1828800"/>
            <a:ext cx="2148840" cy="3200400"/>
          </a:xfrm>
          <a:prstGeom prst="roundRect">
            <a:avLst>
              <a:gd name="adj" fmla="val 3830"/>
            </a:avLst>
          </a:prstGeom>
          <a:solidFill>
            <a:srgbClr val="0E2A4F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23844" y="2029968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00D4FF">
              <a:alpha val="1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323844" y="20299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٢٠٢٥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843784" y="25146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وكلاء الطرفية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2898648" y="3127248"/>
            <a:ext cx="18562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 (فبراير)، Codex CLI (أبريل)، Gemini CLI (يونيو): الحزام نفسه يصبح منتجاً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843784" y="46177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الحزام منتجاً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633472" y="3429000"/>
            <a:ext cx="118872" cy="0"/>
          </a:xfrm>
          <a:prstGeom prst="line">
            <a:avLst/>
          </a:prstGeom>
          <a:noFill/>
          <a:ln w="15875">
            <a:solidFill>
              <a:srgbClr val="5A718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16200000">
            <a:off x="2514600" y="3369564"/>
            <a:ext cx="118872" cy="118872"/>
          </a:xfrm>
          <a:prstGeom prst="triangle">
            <a:avLst/>
          </a:prstGeom>
          <a:solidFill>
            <a:srgbClr val="5A7186"/>
          </a:solidFill>
          <a:ln/>
        </p:spPr>
      </p:sp>
      <p:sp>
        <p:nvSpPr>
          <p:cNvPr id="40" name="Shape 38"/>
          <p:cNvSpPr/>
          <p:nvPr/>
        </p:nvSpPr>
        <p:spPr>
          <a:xfrm>
            <a:off x="484632" y="1828800"/>
            <a:ext cx="2148840" cy="3200400"/>
          </a:xfrm>
          <a:prstGeom prst="roundRect">
            <a:avLst>
              <a:gd name="adj" fmla="val 3830"/>
            </a:avLst>
          </a:prstGeom>
          <a:solidFill>
            <a:srgbClr val="0E2A4F"/>
          </a:solidFill>
          <a:ln w="9525">
            <a:solidFill>
              <a:srgbClr val="9BE8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56132" y="2029968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9BE8FF">
              <a:alpha val="1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056132" y="20299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9B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٢٠٢٦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76072" y="25146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الحزام المفتوح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30936" y="3127248"/>
            <a:ext cx="18562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OpenClaw: مساعد مفتوح المصدر يعمل على جهازك ويتقاسمك قنواتك اليومية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76072" y="46177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9B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ملكية المستخدم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102E56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77240" y="53492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9B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القاسم المشترك عبر المحطات الخمس:  </a:t>
            </a:r>
            <a:r>
              <a:rPr lang="en-US" sz="120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كل جيل نقل «الوكالة» خطوة نحو المستخدم — من مختبرات المطورين (٢٠٢٣) إلى الطرفية (٢٠٢٥) إلى جيب المستخدم وقنواته اليومية (٢٠٢٦).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011680" y="6492240"/>
            <a:ext cx="9720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المصادر: AutoGPT GitHub؛ LangChain docs؛ Anthropic (Nov 2024)؛ Zed ACP (Jun 2025)؛ إعلانات ٢٠٢٥؛ Wikipedia/OpenClaw (2026)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5880" y="310896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دراسة حالة (١): AutoGPT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25880" y="86868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مارس ٢٠٢٣ — أول وكيل مستقل يصل إلى الجمهور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31089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0E2A4F"/>
          </a:solidFill>
          <a:ln w="12700">
            <a:solidFill>
              <a:srgbClr val="9BE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9B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92024" y="9326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B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هندسة الحزام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١٤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75320" y="1463040"/>
            <a:ext cx="3364992" cy="4709160"/>
          </a:xfrm>
          <a:prstGeom prst="roundRect">
            <a:avLst>
              <a:gd name="adj" fmla="val 2446"/>
            </a:avLst>
          </a:prstGeom>
          <a:solidFill>
            <a:srgbClr val="0E2A4F"/>
          </a:solidFill>
          <a:ln w="9525">
            <a:solidFill>
              <a:srgbClr val="C9A95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75320" y="1783080"/>
            <a:ext cx="3364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١٨٧ ألف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458200" y="256032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نجمة على GitHub — سبتمبر ٢٠٢٦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58200" y="2926080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أعلى مستودعات الترند بعد إطلاقه أسابيع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58200" y="3931920"/>
            <a:ext cx="29992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«هدف واحد بلا أوامر خطوة بخطوة: خطّط، فكّر، نفّذ، انتقد نفسك، كرّر» — تواران بروس ريتشاردز (Significant Gravitas)، مارس ٢٠٢٣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1463040"/>
            <a:ext cx="7498080" cy="4709160"/>
          </a:xfrm>
          <a:prstGeom prst="roundRect">
            <a:avLst>
              <a:gd name="adj" fmla="val 1359"/>
            </a:avLst>
          </a:prstGeom>
          <a:solidFill>
            <a:srgbClr val="102E56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16459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حلقة الوكيل الأولى كما نفّذها AutoGPT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46320" y="2103120"/>
            <a:ext cx="3017520" cy="566928"/>
          </a:xfrm>
          <a:prstGeom prst="rect">
            <a:avLst/>
          </a:prstGeom>
          <a:solidFill>
            <a:srgbClr val="0E2A4F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1396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هدف المستخدم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2404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«ابحث عن أفضل الصفقات» — سطر واحد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55080" y="2670048"/>
            <a:ext cx="0" cy="91440"/>
          </a:xfrm>
          <a:prstGeom prst="line">
            <a:avLst/>
          </a:prstGeom>
          <a:noFill/>
          <a:ln w="15875">
            <a:solidFill>
              <a:srgbClr val="5A718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0800000">
            <a:off x="6295644" y="2642616"/>
            <a:ext cx="118872" cy="118872"/>
          </a:xfrm>
          <a:prstGeom prst="triangle">
            <a:avLst/>
          </a:prstGeom>
          <a:solidFill>
            <a:srgbClr val="5A7186"/>
          </a:solidFill>
          <a:ln/>
        </p:spPr>
      </p:sp>
      <p:sp>
        <p:nvSpPr>
          <p:cNvPr id="20" name="Shape 18"/>
          <p:cNvSpPr/>
          <p:nvPr/>
        </p:nvSpPr>
        <p:spPr>
          <a:xfrm>
            <a:off x="4389120" y="2761488"/>
            <a:ext cx="3017520" cy="566928"/>
          </a:xfrm>
          <a:prstGeom prst="rect">
            <a:avLst/>
          </a:prstGeom>
          <a:solidFill>
            <a:srgbClr val="0E2A4F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27980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تخطيط وتفكير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26280" y="3063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تفكيك الهدف إلى مهام فرعية متسلسلة (حتى ٥)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97880" y="3328416"/>
            <a:ext cx="0" cy="91440"/>
          </a:xfrm>
          <a:prstGeom prst="line">
            <a:avLst/>
          </a:prstGeom>
          <a:noFill/>
          <a:ln w="15875">
            <a:solidFill>
              <a:srgbClr val="5A718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5838444" y="3300984"/>
            <a:ext cx="118872" cy="118872"/>
          </a:xfrm>
          <a:prstGeom prst="triangle">
            <a:avLst/>
          </a:prstGeom>
          <a:solidFill>
            <a:srgbClr val="5A7186"/>
          </a:solidFill>
          <a:ln/>
        </p:spPr>
      </p:sp>
      <p:sp>
        <p:nvSpPr>
          <p:cNvPr id="25" name="Shape 23"/>
          <p:cNvSpPr/>
          <p:nvPr/>
        </p:nvSpPr>
        <p:spPr>
          <a:xfrm>
            <a:off x="4846320" y="3419856"/>
            <a:ext cx="3017520" cy="566928"/>
          </a:xfrm>
          <a:prstGeom prst="rect">
            <a:avLst/>
          </a:prstGeom>
          <a:solidFill>
            <a:srgbClr val="0E2A4F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تنفيذ بأدوات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3721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بحث ويب، ملفات، «ذاكرة» ملفات قصيرة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55080" y="3986784"/>
            <a:ext cx="0" cy="91440"/>
          </a:xfrm>
          <a:prstGeom prst="line">
            <a:avLst/>
          </a:prstGeom>
          <a:noFill/>
          <a:ln w="15875">
            <a:solidFill>
              <a:srgbClr val="5A718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10800000">
            <a:off x="6295644" y="3959352"/>
            <a:ext cx="118872" cy="118872"/>
          </a:xfrm>
          <a:prstGeom prst="triangle">
            <a:avLst/>
          </a:prstGeom>
          <a:solidFill>
            <a:srgbClr val="5A7186"/>
          </a:solidFill>
          <a:ln/>
        </p:spPr>
      </p:sp>
      <p:sp>
        <p:nvSpPr>
          <p:cNvPr id="30" name="Shape 28"/>
          <p:cNvSpPr/>
          <p:nvPr/>
        </p:nvSpPr>
        <p:spPr>
          <a:xfrm>
            <a:off x="4389120" y="4078224"/>
            <a:ext cx="3017520" cy="566928"/>
          </a:xfrm>
          <a:prstGeom prst="rect">
            <a:avLst/>
          </a:prstGeom>
          <a:solidFill>
            <a:srgbClr val="0E2A4F"/>
          </a:solidFill>
          <a:ln w="9525">
            <a:solidFill>
              <a:srgbClr val="C9A95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2628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نقد ذاتي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26280" y="43799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النموذج يقيّم خرجه ويصحّح مساره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862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2600"/>
              </a:lnSpc>
              <a:buNone/>
            </a:pPr>
            <a:r>
              <a:rPr lang="en-US" sz="2400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↺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868680" y="47731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تكرار ذاتي حتى «اكتمال الهدف» أو استنفاد الميزانية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" y="5120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لماذا توقفت التجربة؟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22960" y="5413248"/>
            <a:ext cx="6903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حلقات لا نهائية: ينسى ما فعله — نافذة السياق المحدودة أطاحت به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22960" y="5650992"/>
            <a:ext cx="6903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تكلفة: كل خطوة استدعاء API مكتمل — فاتورة تصاعدية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22960" y="5888736"/>
            <a:ext cx="6903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موثوقية: يثق بنقد ذاته — خطأ واحد يتراكم عبر السلسلة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011680" y="6528816"/>
            <a:ext cx="9720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المصادر: Wikipedia/AutoGPT (Mar 30, 2023)؛ GitHub API — Significant-Gravitas/AutoGPT (سبتمبر ٢٠٢٦)؛ ملاحظات Karpathy عن الحلقات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5880" y="310896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دراسة حالة (٢): OpenClaw و ACP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25880" y="86868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٢٠٢٦: الحزام ينتقل إلى أجهزة المستخدمين، والبروتوكولات توحّد الوكلاء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31089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0E2A4F"/>
          </a:solidFill>
          <a:ln w="12700">
            <a:solidFill>
              <a:srgbClr val="9BE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9B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92024" y="9326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B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هندسة الحزام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١٥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376672" cy="4526280"/>
          </a:xfrm>
          <a:prstGeom prst="roundRect">
            <a:avLst>
              <a:gd name="adj" fmla="val 1818"/>
            </a:avLst>
          </a:prstGeom>
          <a:solidFill>
            <a:srgbClr val="0E2A4F"/>
          </a:solidFill>
          <a:ln w="9525">
            <a:solidFill>
              <a:srgbClr val="9BE8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6459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9B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OpenClaw — المساعد الشخصي المفتوح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بيتر شتاينرغر — نوفمبر ٢٠٢٥ / الاسم الحالي منذ ٣٠ يناير ٢٠٢٦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1100816" y="2532888"/>
            <a:ext cx="109728" cy="109728"/>
          </a:xfrm>
          <a:prstGeom prst="ellipse">
            <a:avLst/>
          </a:prstGeom>
          <a:solidFill>
            <a:srgbClr val="9BE8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514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يعمل على جهازك أنت — لا سحابة وسيطة: macOS / Linux / Windows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1100816" y="3044952"/>
            <a:ext cx="109728" cy="109728"/>
          </a:xfrm>
          <a:prstGeom prst="ellipse">
            <a:avLst/>
          </a:prstGeom>
          <a:solidFill>
            <a:srgbClr val="9BE8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0266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يلتقيك في قنواتك: واتساب، تيليجرام، ديسكورد، إشارة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100816" y="3557016"/>
            <a:ext cx="109728" cy="109728"/>
          </a:xfrm>
          <a:prstGeom prst="ellipse">
            <a:avLst/>
          </a:prstGeom>
          <a:solidFill>
            <a:srgbClr val="9BE8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35387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ذاكرة دائمة ومهارات SKILL.md قابلة للتوسعة شعبياً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1100816" y="4069080"/>
            <a:ext cx="109728" cy="109728"/>
          </a:xfrm>
          <a:prstGeom prst="ellipse">
            <a:avLst/>
          </a:prstGeom>
          <a:solidFill>
            <a:srgbClr val="9BE8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0507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388,737 نجمة على GitHub (سبتمبر ٢٠٢٦) — أسرع نمو بتاريخ المنصة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92240" y="4663440"/>
            <a:ext cx="4892040" cy="1051560"/>
          </a:xfrm>
          <a:prstGeom prst="roundRect">
            <a:avLst>
              <a:gd name="adj" fmla="val 4348"/>
            </a:avLst>
          </a:prstGeom>
          <a:solidFill>
            <a:srgbClr val="102E56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0" y="466344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جرس الإنذار:  </a:t>
            </a:r>
            <a:r>
              <a:rPr lang="en-US" sz="10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حقن أوامر عبر المهارات، Sandbox معطّل افتراضياً، مخزن أسرار غير مشفّر — Cisco وMicrosoft حذّرا، والصين قيّدته رسمياً (مارس ٢٠٢٦).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1463040"/>
            <a:ext cx="5486400" cy="4526280"/>
          </a:xfrm>
          <a:prstGeom prst="roundRect">
            <a:avLst>
              <a:gd name="adj" fmla="val 1818"/>
            </a:avLst>
          </a:prstGeom>
          <a:solidFill>
            <a:srgbClr val="0E2A4F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ACP — بروتوكول عميل الوكيل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2011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Zed Industries — يونيو ٢٠٢٥ · مفتوح المصدر (Apache 2.0)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68696" y="2532888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25146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المهمة: معيار موحّد يربط «أي محرر» بـ«أي وكيل برمجي»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68696" y="3044952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02666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JSON-RPC: حوار عادي بين المحرر والوكيل — محادثة، عمليات ملفات، إذن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568696" y="3557016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53872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حوار غير متزامن بتعريفات صريحة — لا «قارئ أرقام سحري»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568696" y="4069080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05079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للأدوات · ACP للعملاء: قطعتان متكاملتان في منظومة واحدة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77240" y="4663440"/>
            <a:ext cx="5029200" cy="1051560"/>
          </a:xfrm>
          <a:prstGeom prst="roundRect">
            <a:avLst>
              <a:gd name="adj" fmla="val 4348"/>
            </a:avLst>
          </a:prstGeom>
          <a:solidFill>
            <a:srgbClr val="102E56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60120" y="466344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لماذا يهم؟  </a:t>
            </a:r>
            <a:r>
              <a:rPr lang="en-US" sz="105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تقسيم العمل الواضح يقطع الجدل: MCP يوصل الوكيل بالأدوات، وACP يوصل العميل (محررك) بالوكيل.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011680" y="6528816"/>
            <a:ext cx="9720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المصادر: Wikipedia/OpenClaw (Sep 2026)؛ GitHub API openclaw/openclaw (388,737 نجمة)؛ Zed Industries/ACP — سبتمبر ٢٠٢٦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5880" y="310896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مصفوفة المقارنة: المراحل الثلاث وجهاً لوجه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25880" y="868680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ما نبرمجه، وما نكسبه، وما يحدّنا — في جدول واحد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١٦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705088" y="1600200"/>
            <a:ext cx="2880360" cy="457200"/>
          </a:xfrm>
          <a:prstGeom prst="rect">
            <a:avLst/>
          </a:prstGeom>
          <a:solidFill>
            <a:srgbClr val="C9A959">
              <a:alpha val="15000"/>
            </a:srgbClr>
          </a:solidFill>
          <a:ln w="12700">
            <a:solidFill>
              <a:srgbClr val="C9A9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05088" y="1600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هندسة الأوامر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9864" y="1600200"/>
            <a:ext cx="2880360" cy="457200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9864" y="1600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هندسة السياق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1600200"/>
            <a:ext cx="2880360" cy="457200"/>
          </a:xfrm>
          <a:prstGeom prst="rect">
            <a:avLst/>
          </a:prstGeom>
          <a:solidFill>
            <a:srgbClr val="9BE8FF">
              <a:alpha val="15000"/>
            </a:srgbClr>
          </a:solidFill>
          <a:ln w="12700">
            <a:solidFill>
              <a:srgbClr val="9BE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600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9B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هندسة الحزام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600200"/>
            <a:ext cx="2231136" cy="457200"/>
          </a:xfrm>
          <a:prstGeom prst="rect">
            <a:avLst/>
          </a:prstGeom>
          <a:solidFill>
            <a:srgbClr val="102E5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60020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وجه المقارنة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130552"/>
            <a:ext cx="2231136" cy="512064"/>
          </a:xfrm>
          <a:prstGeom prst="rect">
            <a:avLst/>
          </a:prstGeom>
          <a:solidFill>
            <a:srgbClr val="0E2A4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130552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الوحدة الأساسية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05088" y="2130552"/>
            <a:ext cx="2880360" cy="512064"/>
          </a:xfrm>
          <a:prstGeom prst="rect">
            <a:avLst/>
          </a:prstGeom>
          <a:solidFill>
            <a:srgbClr val="0E2A4F"/>
          </a:solidFill>
          <a:ln w="6350">
            <a:solidFill>
              <a:srgbClr val="5A71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14816" y="2130552"/>
            <a:ext cx="2660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نصّ الأمر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9864" y="2130552"/>
            <a:ext cx="2880360" cy="512064"/>
          </a:xfrm>
          <a:prstGeom prst="rect">
            <a:avLst/>
          </a:prstGeom>
          <a:solidFill>
            <a:srgbClr val="0E2A4F"/>
          </a:solidFill>
          <a:ln w="6350">
            <a:solidFill>
              <a:srgbClr val="5A71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9592" y="2130552"/>
            <a:ext cx="2660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نافذة السياق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834640" y="2130552"/>
            <a:ext cx="2880360" cy="512064"/>
          </a:xfrm>
          <a:prstGeom prst="rect">
            <a:avLst/>
          </a:prstGeom>
          <a:solidFill>
            <a:srgbClr val="0E2A4F"/>
          </a:solidFill>
          <a:ln w="6350">
            <a:solidFill>
              <a:srgbClr val="5A71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2130552"/>
            <a:ext cx="2660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الحزام (النظام المحيط)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2697480"/>
            <a:ext cx="2231136" cy="512064"/>
          </a:xfrm>
          <a:prstGeom prst="rect">
            <a:avLst/>
          </a:prstGeom>
          <a:solidFill>
            <a:srgbClr val="0E2A4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69748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دور النموذج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705088" y="2697480"/>
            <a:ext cx="2880360" cy="512064"/>
          </a:xfrm>
          <a:prstGeom prst="rect">
            <a:avLst/>
          </a:prstGeom>
          <a:solidFill>
            <a:srgbClr val="0E2A4F"/>
          </a:solidFill>
          <a:ln w="6350">
            <a:solidFill>
              <a:srgbClr val="5A71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14816" y="2697480"/>
            <a:ext cx="2660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مُختبَر بالصياغة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69864" y="2697480"/>
            <a:ext cx="2880360" cy="512064"/>
          </a:xfrm>
          <a:prstGeom prst="rect">
            <a:avLst/>
          </a:prstGeom>
          <a:solidFill>
            <a:srgbClr val="0E2A4F"/>
          </a:solidFill>
          <a:ln w="6350">
            <a:solidFill>
              <a:srgbClr val="5A71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9592" y="2697480"/>
            <a:ext cx="2660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معالج يستهلك مدخلات مُدارة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834640" y="2697480"/>
            <a:ext cx="2880360" cy="512064"/>
          </a:xfrm>
          <a:prstGeom prst="rect">
            <a:avLst/>
          </a:prstGeom>
          <a:solidFill>
            <a:srgbClr val="0E2A4F"/>
          </a:solidFill>
          <a:ln w="6350">
            <a:solidFill>
              <a:srgbClr val="5A718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2697480"/>
            <a:ext cx="2660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محرك داخل هيكل مصمم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264408"/>
            <a:ext cx="2231136" cy="512064"/>
          </a:xfrm>
          <a:prstGeom prst="rect">
            <a:avLst/>
          </a:prstGeom>
          <a:solidFill>
            <a:srgbClr val="0E2A4F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264408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ما نبرمجه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705088" y="3264408"/>
            <a:ext cx="2880360" cy="512064"/>
          </a:xfrm>
          <a:prstGeom prst="rect">
            <a:avLst/>
          </a:prstGeom>
          <a:solidFill>
            <a:srgbClr val="0E2A4F"/>
          </a:solidFill>
          <a:ln w="6350">
            <a:solidFill>
              <a:srgbClr val="5A718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14816" y="3264408"/>
            <a:ext cx="2660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كيف نَسأل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769864" y="3264408"/>
            <a:ext cx="2880360" cy="512064"/>
          </a:xfrm>
          <a:prstGeom prst="rect">
            <a:avLst/>
          </a:prstGeom>
          <a:solidFill>
            <a:srgbClr val="0E2A4F"/>
          </a:solidFill>
          <a:ln w="6350">
            <a:solidFill>
              <a:srgbClr val="5A718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79592" y="3264408"/>
            <a:ext cx="2660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ماذا نُدخل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834640" y="3264408"/>
            <a:ext cx="2880360" cy="512064"/>
          </a:xfrm>
          <a:prstGeom prst="rect">
            <a:avLst/>
          </a:prstGeom>
          <a:solidFill>
            <a:srgbClr val="0E2A4F"/>
          </a:solidFill>
          <a:ln w="6350">
            <a:solidFill>
              <a:srgbClr val="5A718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44368" y="3264408"/>
            <a:ext cx="2660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ما الذي يُحيط بالنموذج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3831336"/>
            <a:ext cx="2231136" cy="694944"/>
          </a:xfrm>
          <a:prstGeom prst="rect">
            <a:avLst/>
          </a:prstGeom>
          <a:solidFill>
            <a:srgbClr val="0E2A4F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3831336"/>
            <a:ext cx="19568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التقنيات والأمثلة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705088" y="3831336"/>
            <a:ext cx="2880360" cy="694944"/>
          </a:xfrm>
          <a:prstGeom prst="rect">
            <a:avLst/>
          </a:prstGeom>
          <a:solidFill>
            <a:srgbClr val="0E2A4F"/>
          </a:solidFill>
          <a:ln w="6350">
            <a:solidFill>
              <a:srgbClr val="5A718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14816" y="3831336"/>
            <a:ext cx="2660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Zero/Few-shot · CoT · ReAct · الأدوار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769864" y="3831336"/>
            <a:ext cx="2880360" cy="694944"/>
          </a:xfrm>
          <a:prstGeom prst="rect">
            <a:avLst/>
          </a:prstGeom>
          <a:solidFill>
            <a:srgbClr val="0E2A4F"/>
          </a:solidFill>
          <a:ln w="6350">
            <a:solidFill>
              <a:srgbClr val="5A718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79592" y="3831336"/>
            <a:ext cx="2660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· الذاكرة · Tool Use · MCP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834640" y="3831336"/>
            <a:ext cx="2880360" cy="694944"/>
          </a:xfrm>
          <a:prstGeom prst="rect">
            <a:avLst/>
          </a:prstGeom>
          <a:solidFill>
            <a:srgbClr val="0E2A4F"/>
          </a:solidFill>
          <a:ln w="6350">
            <a:solidFill>
              <a:srgbClr val="5A718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44368" y="3831336"/>
            <a:ext cx="2660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حلقة الوكيل · الصلاحيات · المهارات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4581144"/>
            <a:ext cx="2231136" cy="512064"/>
          </a:xfrm>
          <a:prstGeom prst="rect">
            <a:avLst/>
          </a:prstGeom>
          <a:solidFill>
            <a:srgbClr val="0E2A4F"/>
          </a:solidFill>
          <a:ln/>
        </p:spPr>
      </p:sp>
      <p:sp>
        <p:nvSpPr>
          <p:cNvPr id="46" name="Text 44"/>
          <p:cNvSpPr/>
          <p:nvPr/>
        </p:nvSpPr>
        <p:spPr>
          <a:xfrm>
            <a:off x="685800" y="4581144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حدود المرحلة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705088" y="4581144"/>
            <a:ext cx="2880360" cy="512064"/>
          </a:xfrm>
          <a:prstGeom prst="rect">
            <a:avLst/>
          </a:prstGeom>
          <a:solidFill>
            <a:srgbClr val="0E2A4F"/>
          </a:solidFill>
          <a:ln w="6350">
            <a:solidFill>
              <a:srgbClr val="5A718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14816" y="4581144"/>
            <a:ext cx="2660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لا ذاكرة ولا أدوات ولا تحديث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769864" y="4581144"/>
            <a:ext cx="2880360" cy="512064"/>
          </a:xfrm>
          <a:prstGeom prst="rect">
            <a:avLst/>
          </a:prstGeom>
          <a:solidFill>
            <a:srgbClr val="0E2A4F"/>
          </a:solidFill>
          <a:ln w="6350">
            <a:solidFill>
              <a:srgbClr val="5A718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79592" y="4581144"/>
            <a:ext cx="2660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إدارة التكلفة والضجيج والحالة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834640" y="4581144"/>
            <a:ext cx="2880360" cy="512064"/>
          </a:xfrm>
          <a:prstGeom prst="rect">
            <a:avLst/>
          </a:prstGeom>
          <a:solidFill>
            <a:srgbClr val="0E2A4F"/>
          </a:solidFill>
          <a:ln w="6350">
            <a:solidFill>
              <a:srgbClr val="5A718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44368" y="4581144"/>
            <a:ext cx="2660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الأمان والثقة والتحكم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48640" y="5148072"/>
            <a:ext cx="2231136" cy="420624"/>
          </a:xfrm>
          <a:prstGeom prst="rect">
            <a:avLst/>
          </a:prstGeom>
          <a:solidFill>
            <a:srgbClr val="0E2A4F"/>
          </a:solidFill>
          <a:ln/>
        </p:spPr>
      </p:sp>
      <p:sp>
        <p:nvSpPr>
          <p:cNvPr id="54" name="Text 52"/>
          <p:cNvSpPr/>
          <p:nvPr/>
        </p:nvSpPr>
        <p:spPr>
          <a:xfrm>
            <a:off x="685800" y="5148072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العصر الزمني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705088" y="5148072"/>
            <a:ext cx="2880360" cy="420624"/>
          </a:xfrm>
          <a:prstGeom prst="rect">
            <a:avLst/>
          </a:prstGeom>
          <a:solidFill>
            <a:srgbClr val="C9A959">
              <a:alpha val="12000"/>
            </a:srgbClr>
          </a:solidFill>
          <a:ln w="6350">
            <a:solidFill>
              <a:srgbClr val="5A718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814816" y="5148072"/>
            <a:ext cx="2660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٢٠٢٠ – ٢٠٢٣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769864" y="5148072"/>
            <a:ext cx="2880360" cy="420624"/>
          </a:xfrm>
          <a:prstGeom prst="rect">
            <a:avLst/>
          </a:prstGeom>
          <a:solidFill>
            <a:srgbClr val="00D4FF">
              <a:alpha val="12000"/>
            </a:srgbClr>
          </a:solidFill>
          <a:ln w="6350">
            <a:solidFill>
              <a:srgbClr val="5A718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79592" y="5148072"/>
            <a:ext cx="2660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٢٠٢٤ – ٢٠٢٥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834640" y="5148072"/>
            <a:ext cx="2880360" cy="420624"/>
          </a:xfrm>
          <a:prstGeom prst="rect">
            <a:avLst/>
          </a:prstGeom>
          <a:solidFill>
            <a:srgbClr val="9BE8FF">
              <a:alpha val="12000"/>
            </a:srgbClr>
          </a:solidFill>
          <a:ln w="6350">
            <a:solidFill>
              <a:srgbClr val="5A718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44368" y="5148072"/>
            <a:ext cx="2660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B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٢٠٢٥ – ٢٠٢٦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2011680" y="6510528"/>
            <a:ext cx="9720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خلاصة تحليلية للعرض — الأطر الزمنية تقريبية والتداخل بين المراحل طبيعي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188720"/>
            <a:ext cx="1097280" cy="118872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1005840" y="2377440"/>
            <a:ext cx="1188720" cy="118872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566160"/>
            <a:ext cx="1280160" cy="118872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371600" y="4754880"/>
            <a:ext cx="914400" cy="118872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914400"/>
            <a:ext cx="274320" cy="219456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834640" y="3108960"/>
            <a:ext cx="640080" cy="228600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241280" y="1005840"/>
            <a:ext cx="822960" cy="128016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0" y="2286000"/>
            <a:ext cx="1097280" cy="118872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0149840" y="3474720"/>
            <a:ext cx="1188720" cy="118872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49840" y="4663440"/>
            <a:ext cx="822960" cy="118872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9144000" y="1371600"/>
            <a:ext cx="182880" cy="182880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3200400"/>
            <a:ext cx="457200" cy="228600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14400"/>
            <a:ext cx="6126480" cy="45720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4640" y="5394960"/>
            <a:ext cx="1920240" cy="91440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7589520" y="5486400"/>
            <a:ext cx="2011680" cy="86868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1097280" y="914400"/>
            <a:ext cx="2103120" cy="27432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9326880" y="1005840"/>
            <a:ext cx="1737360" cy="365760"/>
          </a:xfrm>
          <a:prstGeom prst="line">
            <a:avLst/>
          </a:prstGeom>
          <a:noFill/>
          <a:ln w="9525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8891" y="1090331"/>
            <a:ext cx="196779" cy="196779"/>
          </a:xfrm>
          <a:prstGeom prst="ellipse">
            <a:avLst/>
          </a:prstGeom>
          <a:solidFill>
            <a:srgbClr val="00D4FF">
              <a:alpha val="429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70933" y="2253813"/>
            <a:ext cx="247254" cy="247254"/>
          </a:xfrm>
          <a:prstGeom prst="ellipse">
            <a:avLst/>
          </a:prstGeom>
          <a:solidFill>
            <a:srgbClr val="00D4FF">
              <a:alpha val="508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29544" y="3389864"/>
            <a:ext cx="352593" cy="352593"/>
          </a:xfrm>
          <a:prstGeom prst="ellipse">
            <a:avLst/>
          </a:prstGeom>
          <a:solidFill>
            <a:srgbClr val="00D4FF">
              <a:alpha val="612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178832" y="4647712"/>
            <a:ext cx="214335" cy="214335"/>
          </a:xfrm>
          <a:prstGeom prst="ellipse">
            <a:avLst/>
          </a:prstGeom>
          <a:solidFill>
            <a:srgbClr val="00D4FF">
              <a:alpha val="365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298448" y="5870448"/>
            <a:ext cx="146304" cy="146304"/>
          </a:xfrm>
          <a:prstGeom prst="ellipse">
            <a:avLst/>
          </a:prstGeom>
          <a:solidFill>
            <a:srgbClr val="00D4FF">
              <a:alpha val="43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44952" y="758952"/>
            <a:ext cx="310896" cy="310896"/>
          </a:xfrm>
          <a:prstGeom prst="ellipse">
            <a:avLst/>
          </a:prstGeom>
          <a:solidFill>
            <a:srgbClr val="00D4FF">
              <a:alpha val="445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326953" y="2961193"/>
            <a:ext cx="295534" cy="295534"/>
          </a:xfrm>
          <a:prstGeom prst="ellipse">
            <a:avLst/>
          </a:prstGeom>
          <a:solidFill>
            <a:srgbClr val="00D4FF">
              <a:alpha val="586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658344" y="5218664"/>
            <a:ext cx="352593" cy="352593"/>
          </a:xfrm>
          <a:prstGeom prst="ellipse">
            <a:avLst/>
          </a:prstGeom>
          <a:solidFill>
            <a:srgbClr val="00D4FF">
              <a:alpha val="552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903306" y="844906"/>
            <a:ext cx="321869" cy="321869"/>
          </a:xfrm>
          <a:prstGeom prst="ellipse">
            <a:avLst/>
          </a:prstGeom>
          <a:solidFill>
            <a:srgbClr val="00D4FF">
              <a:alpha val="522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103388" y="2148108"/>
            <a:ext cx="275783" cy="275783"/>
          </a:xfrm>
          <a:prstGeom prst="ellipse">
            <a:avLst/>
          </a:prstGeom>
          <a:solidFill>
            <a:srgbClr val="00D4FF">
              <a:alpha val="569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175431" y="3311591"/>
            <a:ext cx="326258" cy="326258"/>
          </a:xfrm>
          <a:prstGeom prst="ellipse">
            <a:avLst/>
          </a:prstGeom>
          <a:solidFill>
            <a:srgbClr val="00D4FF">
              <a:alpha val="648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043770" y="4557370"/>
            <a:ext cx="212141" cy="212141"/>
          </a:xfrm>
          <a:prstGeom prst="ellipse">
            <a:avLst/>
          </a:prstGeom>
          <a:solidFill>
            <a:srgbClr val="00D4FF">
              <a:alpha val="452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864535" y="5743895"/>
            <a:ext cx="216530" cy="216530"/>
          </a:xfrm>
          <a:prstGeom prst="ellipse">
            <a:avLst/>
          </a:prstGeom>
          <a:solidFill>
            <a:srgbClr val="00D4FF">
              <a:alpha val="57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188988" y="1233708"/>
            <a:ext cx="275783" cy="275783"/>
          </a:xfrm>
          <a:prstGeom prst="ellipse">
            <a:avLst/>
          </a:prstGeom>
          <a:solidFill>
            <a:srgbClr val="00D4FF">
              <a:alpha val="449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065362" y="3121762"/>
            <a:ext cx="157277" cy="157277"/>
          </a:xfrm>
          <a:prstGeom prst="ellipse">
            <a:avLst/>
          </a:prstGeom>
          <a:solidFill>
            <a:srgbClr val="00D4FF">
              <a:alpha val="375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511589" y="5396789"/>
            <a:ext cx="179222" cy="179222"/>
          </a:xfrm>
          <a:prstGeom prst="ellipse">
            <a:avLst/>
          </a:prstGeom>
          <a:solidFill>
            <a:srgbClr val="00D4FF">
              <a:alpha val="485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603821" y="6158301"/>
            <a:ext cx="302118" cy="302118"/>
          </a:xfrm>
          <a:prstGeom prst="ellipse">
            <a:avLst/>
          </a:prstGeom>
          <a:solidFill>
            <a:srgbClr val="00D4FF">
              <a:alpha val="529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418161" y="6183721"/>
            <a:ext cx="342717" cy="342717"/>
          </a:xfrm>
          <a:prstGeom prst="ellipse">
            <a:avLst/>
          </a:prstGeom>
          <a:solidFill>
            <a:srgbClr val="00D4FF">
              <a:alpha val="4235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527048" y="1234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900"/>
              </a:lnSpc>
              <a:buNone/>
            </a:pPr>
            <a:r>
              <a:rPr lang="en-US" sz="1600" spc="200" kern="0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الخلاصة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4088" y="1691640"/>
            <a:ext cx="10780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الوكيل ليس النموذج — الوكيل هو النظام كله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2075688" y="24871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8F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ثلاث موجات ودرس واحد: ما نبرمجه يتعمّق في النظام مع كل موجة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074152" y="3520440"/>
            <a:ext cx="3429000" cy="1737360"/>
          </a:xfrm>
          <a:prstGeom prst="roundRect">
            <a:avLst>
              <a:gd name="adj" fmla="val 4737"/>
            </a:avLst>
          </a:prstGeom>
          <a:solidFill>
            <a:srgbClr val="0E2A4F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275320" y="370332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المرحلة ١ · هندسة الأوامر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275320" y="4069080"/>
            <a:ext cx="3026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أتقنّا السؤال — واكتشفنا أن سؤالاً مثالياً لا يصنع ذاكرة ولا أدوات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808976" y="4389120"/>
            <a:ext cx="265176" cy="0"/>
          </a:xfrm>
          <a:prstGeom prst="line">
            <a:avLst/>
          </a:prstGeom>
          <a:noFill/>
          <a:ln w="15875">
            <a:solidFill>
              <a:srgbClr val="5A718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6200000">
            <a:off x="7690104" y="4329684"/>
            <a:ext cx="118872" cy="118872"/>
          </a:xfrm>
          <a:prstGeom prst="triangle">
            <a:avLst/>
          </a:prstGeom>
          <a:solidFill>
            <a:srgbClr val="5A7186"/>
          </a:solidFill>
          <a:ln/>
        </p:spPr>
      </p:sp>
      <p:sp>
        <p:nvSpPr>
          <p:cNvPr id="45" name="Shape 43"/>
          <p:cNvSpPr/>
          <p:nvPr/>
        </p:nvSpPr>
        <p:spPr>
          <a:xfrm>
            <a:off x="4379976" y="3520440"/>
            <a:ext cx="3429000" cy="1737360"/>
          </a:xfrm>
          <a:prstGeom prst="roundRect">
            <a:avLst>
              <a:gd name="adj" fmla="val 4737"/>
            </a:avLst>
          </a:prstGeom>
          <a:solidFill>
            <a:srgbClr val="0E2A4F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581144" y="370332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المرحلة ٢ · هندسة السياق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4581144" y="4069080"/>
            <a:ext cx="3026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أدركنا أن الميزة في المدخلات — فبنينا RAG وذاكرة وأدوات موحّدة عبر MCP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114800" y="4389120"/>
            <a:ext cx="265176" cy="0"/>
          </a:xfrm>
          <a:prstGeom prst="line">
            <a:avLst/>
          </a:prstGeom>
          <a:noFill/>
          <a:ln w="15875">
            <a:solidFill>
              <a:srgbClr val="5A718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16200000">
            <a:off x="3995928" y="4329684"/>
            <a:ext cx="118872" cy="118872"/>
          </a:xfrm>
          <a:prstGeom prst="triangle">
            <a:avLst/>
          </a:prstGeom>
          <a:solidFill>
            <a:srgbClr val="5A7186"/>
          </a:solidFill>
          <a:ln/>
        </p:spPr>
      </p:sp>
      <p:sp>
        <p:nvSpPr>
          <p:cNvPr id="50" name="Shape 48"/>
          <p:cNvSpPr/>
          <p:nvPr/>
        </p:nvSpPr>
        <p:spPr>
          <a:xfrm>
            <a:off x="685800" y="3520440"/>
            <a:ext cx="3429000" cy="1737360"/>
          </a:xfrm>
          <a:prstGeom prst="roundRect">
            <a:avLst>
              <a:gd name="adj" fmla="val 4737"/>
            </a:avLst>
          </a:prstGeom>
          <a:solidFill>
            <a:srgbClr val="0E2A4F"/>
          </a:solidFill>
          <a:ln/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886968" y="370332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9BE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المرحلة ٣ · هندسة الحزام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886968" y="4069080"/>
            <a:ext cx="3026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5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التنافس اليوم على السقالة كلها: الحلقة، الصلاحيات، الذاكرة، الأمان — الحزام هو المنتج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813048" y="5715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9A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شكراً لكم — أسئلتكم موضع ترحيب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3813048" y="6172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71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إعداد: فريق OmniRAG — سبتمبر ٢٠٢٦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تطوّر وكلاء الذكاء الاصطناعي</dc:title>
  <dc:subject>من هندسة الأوامر إلى هندسة السياق إلى هندسة الحزام</dc:subject>
  <dc:creator>OmniRAG</dc:creator>
  <cp:lastModifiedBy>OmniRAG</cp:lastModifiedBy>
  <cp:revision>1</cp:revision>
  <dcterms:created xsi:type="dcterms:W3CDTF">2026-09-03T18:47:31Z</dcterms:created>
  <dcterms:modified xsi:type="dcterms:W3CDTF">2026-09-03T18:47:31Z</dcterms:modified>
</cp:coreProperties>
</file>